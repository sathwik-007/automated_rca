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13" r:id="rId2"/>
    <p:sldId id="317" r:id="rId3"/>
    <p:sldId id="321" r:id="rId4"/>
    <p:sldId id="323" r:id="rId5"/>
    <p:sldId id="328" r:id="rId6"/>
    <p:sldId id="327" r:id="rId7"/>
    <p:sldId id="322" r:id="rId8"/>
    <p:sldId id="329" r:id="rId9"/>
    <p:sldId id="324" r:id="rId10"/>
    <p:sldId id="32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F814B-ADD2-4BB2-96B6-A8B43EE567A2}" type="datetimeFigureOut">
              <a:rPr kumimoji="1" lang="ja-JP" altLang="en-US" smtClean="0"/>
              <a:t>2023/12/12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Master Text Formatting</a:t>
            </a:r>
          </a:p>
          <a:p>
            <a:pPr lvl="1"/>
            <a:r>
              <a:rPr kumimoji="1" lang="en-US" altLang="ja-JP"/>
              <a:t>Second </a:t>
            </a:r>
            <a:r>
              <a:rPr kumimoji="1" lang="ja-JP" altLang="en-US"/>
              <a:t>Level</a:t>
            </a:r>
          </a:p>
          <a:p>
            <a:pPr lvl="2"/>
            <a:r>
              <a:rPr kumimoji="1" lang="en-US" altLang="ja-JP"/>
              <a:t>Third </a:t>
            </a:r>
            <a:r>
              <a:rPr kumimoji="1" lang="ja-JP" altLang="en-US"/>
              <a:t>Level</a:t>
            </a:r>
          </a:p>
          <a:p>
            <a:pPr lvl="3"/>
            <a:r>
              <a:rPr kumimoji="1" lang="en-US" altLang="ja-JP"/>
              <a:t>4th </a:t>
            </a:r>
            <a:r>
              <a:rPr kumimoji="1" lang="ja-JP" altLang="en-US"/>
              <a:t>level</a:t>
            </a:r>
          </a:p>
          <a:p>
            <a:pPr lvl="4"/>
            <a:r>
              <a:rPr kumimoji="1" lang="en-US" altLang="ja-JP"/>
              <a:t>5th </a:t>
            </a:r>
            <a:r>
              <a:rPr kumimoji="1" lang="ja-JP" altLang="en-US"/>
              <a:t>level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1E95D-4FDC-435D-9090-25C6C77554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905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1E95D-4FDC-435D-9090-25C6C77554A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662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B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 bwMode="gray">
          <a:xfrm>
            <a:off x="0" y="0"/>
            <a:ext cx="262800" cy="68580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50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  <p:sp>
        <p:nvSpPr>
          <p:cNvPr id="13" name="タイトル"/>
          <p:cNvSpPr>
            <a:spLocks noGrp="1"/>
          </p:cNvSpPr>
          <p:nvPr>
            <p:ph type="title" hasCustomPrompt="1"/>
          </p:nvPr>
        </p:nvSpPr>
        <p:spPr bwMode="gray">
          <a:xfrm>
            <a:off x="677043" y="4229396"/>
            <a:ext cx="11108324" cy="697627"/>
          </a:xfrm>
          <a:prstGeom prst="rect">
            <a:avLst/>
          </a:prstGeom>
        </p:spPr>
        <p:txBody>
          <a:bodyPr wrap="square" lIns="36000" anchor="b" anchorCtr="0">
            <a:noAutofit/>
          </a:bodyPr>
          <a:lstStyle>
            <a:lvl1pPr algn="l" eaLnBrk="1" hangingPunct="1">
              <a:defRPr sz="38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タイトルを入力</a:t>
            </a:r>
          </a:p>
        </p:txBody>
      </p:sp>
      <p:sp>
        <p:nvSpPr>
          <p:cNvPr id="16" name="テキスト プレースホルダー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7044" y="5021216"/>
            <a:ext cx="9005205" cy="41036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marR="0" indent="0" algn="l" defTabSz="12190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95992" indent="0">
              <a:buNone/>
              <a:defRPr>
                <a:solidFill>
                  <a:schemeClr val="bg1"/>
                </a:solidFill>
              </a:defRPr>
            </a:lvl2pPr>
            <a:lvl3pPr marL="297251" indent="0">
              <a:buNone/>
              <a:defRPr>
                <a:solidFill>
                  <a:schemeClr val="bg1"/>
                </a:solidFill>
              </a:defRPr>
            </a:lvl3pPr>
            <a:lvl4pPr marL="437006" indent="0">
              <a:buNone/>
              <a:defRPr>
                <a:solidFill>
                  <a:schemeClr val="bg1"/>
                </a:solidFill>
              </a:defRPr>
            </a:lvl4pPr>
            <a:lvl5pPr marL="41516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dirty="0"/>
              <a:t>年月　部署名　氏名など　適宜改行</a:t>
            </a:r>
          </a:p>
        </p:txBody>
      </p:sp>
      <p:sp>
        <p:nvSpPr>
          <p:cNvPr id="17" name="テキスト プレースホルダー"/>
          <p:cNvSpPr>
            <a:spLocks noGrp="1"/>
          </p:cNvSpPr>
          <p:nvPr>
            <p:ph type="body" sz="quarter" idx="12" hasCustomPrompt="1"/>
          </p:nvPr>
        </p:nvSpPr>
        <p:spPr>
          <a:xfrm>
            <a:off x="677044" y="1152001"/>
            <a:ext cx="9005205" cy="3816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eaLnBrk="1" hangingPunct="1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95992" indent="0">
              <a:buNone/>
              <a:defRPr/>
            </a:lvl2pPr>
            <a:lvl3pPr marL="297251" indent="0">
              <a:buNone/>
              <a:defRPr/>
            </a:lvl3pPr>
            <a:lvl4pPr marL="437006" indent="0">
              <a:buNone/>
              <a:defRPr/>
            </a:lvl4pPr>
            <a:lvl5pPr marL="415160" indent="0">
              <a:buNone/>
              <a:defRPr/>
            </a:lvl5pPr>
          </a:lstStyle>
          <a:p>
            <a:r>
              <a:rPr lang="ja-JP" altLang="en-US" dirty="0"/>
              <a:t>宛先がある場合は入力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1267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of Contents_B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380040" y="1910626"/>
            <a:ext cx="9012279" cy="40075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457155" marR="0" indent="-457155" algn="l" defTabSz="121908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+mj-lt"/>
              <a:buAutoNum type="arabicPeriod"/>
              <a:tabLst/>
              <a:defRPr sz="2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715361" indent="-241277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游ゴシック" panose="020B0400000000000000" pitchFamily="50" charset="-128"/>
              <a:buChar char="-"/>
              <a:defRPr lang="ja-JP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297251" indent="0">
              <a:buFontTx/>
              <a:buNone/>
              <a:defRPr sz="4800">
                <a:solidFill>
                  <a:schemeClr val="bg1"/>
                </a:solidFill>
              </a:defRPr>
            </a:lvl3pPr>
            <a:lvl4pPr marL="719595" marR="0" indent="-239161" algn="l" defTabSz="12190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Tahoma" pitchFamily="34" charset="0"/>
              <a:buChar char="–"/>
              <a:tabLst/>
              <a:defRPr sz="1867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474085" indent="0">
              <a:buClr>
                <a:schemeClr val="tx1">
                  <a:lumMod val="85000"/>
                  <a:lumOff val="15000"/>
                </a:schemeClr>
              </a:buClr>
              <a:buFont typeface="游ゴシック" panose="020B0400000000000000" pitchFamily="50" charset="-128"/>
              <a:buNone/>
              <a:defRPr sz="1867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項目を入力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項目を入力</a:t>
            </a:r>
            <a:endParaRPr kumimoji="1" lang="en-US" altLang="ja-JP" dirty="0"/>
          </a:p>
        </p:txBody>
      </p:sp>
      <p:sp>
        <p:nvSpPr>
          <p:cNvPr id="9" name="正方形/長方形 8"/>
          <p:cNvSpPr/>
          <p:nvPr userDrawn="1"/>
        </p:nvSpPr>
        <p:spPr bwMode="gray">
          <a:xfrm>
            <a:off x="1098893" y="0"/>
            <a:ext cx="28800" cy="68580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50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  <p:sp>
        <p:nvSpPr>
          <p:cNvPr id="6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1936266" y="1211819"/>
            <a:ext cx="9456054" cy="53348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>
              <a:defRPr lang="ja-JP" altLang="en-US" sz="2800" dirty="0" smtClean="0"/>
            </a:lvl1pPr>
          </a:lstStyle>
          <a:p>
            <a:pPr marL="0" marR="0" lvl="0" indent="0" defTabSz="1219080" latinLnBrk="0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</a:pPr>
            <a:r>
              <a:rPr kumimoji="1" lang="ja-JP" altLang="en-US" dirty="0"/>
              <a:t>目次のタイトル</a:t>
            </a:r>
          </a:p>
        </p:txBody>
      </p:sp>
    </p:spTree>
    <p:extLst>
      <p:ext uri="{BB962C8B-B14F-4D97-AF65-F5344CB8AC3E}">
        <p14:creationId xmlns:p14="http://schemas.microsoft.com/office/powerpoint/2010/main" val="1488464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814493" y="4094485"/>
            <a:ext cx="10577827" cy="216109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marR="0" indent="0" algn="l" defTabSz="1219080" rtl="0" eaLnBrk="1" fontAlgn="base" latinLnBrk="0" hangingPunct="1">
              <a:lnSpc>
                <a:spcPct val="110000"/>
              </a:lnSpc>
              <a:spcBef>
                <a:spcPts val="200"/>
              </a:spcBef>
              <a:spcAft>
                <a:spcPct val="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2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78319" indent="-239161" eaLnBrk="1" latinLnBrk="0" hangingPunct="1">
              <a:lnSpc>
                <a:spcPct val="110000"/>
              </a:lnSpc>
              <a:spcBef>
                <a:spcPts val="200"/>
              </a:spcBef>
              <a:buClr>
                <a:schemeClr val="tx1">
                  <a:lumMod val="85000"/>
                  <a:lumOff val="15000"/>
                </a:schemeClr>
              </a:buClr>
              <a:buFont typeface="Segoe UI" panose="020B0502040204020203" pitchFamily="34" charset="0"/>
              <a:buChar char="-"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297251" indent="0">
              <a:buNone/>
              <a:defRPr>
                <a:solidFill>
                  <a:schemeClr val="bg1"/>
                </a:solidFill>
              </a:defRPr>
            </a:lvl3pPr>
            <a:lvl4pPr marL="437006" indent="0">
              <a:buNone/>
              <a:defRPr>
                <a:solidFill>
                  <a:schemeClr val="bg1"/>
                </a:solidFill>
              </a:defRPr>
            </a:lvl4pPr>
            <a:lvl5pPr marL="41516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dirty="0"/>
              <a:t>サブタイトルを入力</a:t>
            </a:r>
          </a:p>
          <a:p>
            <a:pPr lvl="1"/>
            <a:r>
              <a:rPr kumimoji="1" lang="ja-JP" altLang="en-US" dirty="0"/>
              <a:t>項目を入力</a:t>
            </a:r>
          </a:p>
        </p:txBody>
      </p:sp>
      <p:sp>
        <p:nvSpPr>
          <p:cNvPr id="13" name="タイトル"/>
          <p:cNvSpPr>
            <a:spLocks noGrp="1"/>
          </p:cNvSpPr>
          <p:nvPr>
            <p:ph type="title" hasCustomPrompt="1"/>
          </p:nvPr>
        </p:nvSpPr>
        <p:spPr bwMode="gray">
          <a:xfrm>
            <a:off x="814493" y="2906737"/>
            <a:ext cx="10577827" cy="697627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defRPr sz="38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中表紙のタイトルを入力</a:t>
            </a:r>
          </a:p>
        </p:txBody>
      </p:sp>
      <p:sp>
        <p:nvSpPr>
          <p:cNvPr id="8" name="正方形/長方形 7"/>
          <p:cNvSpPr/>
          <p:nvPr userDrawn="1"/>
        </p:nvSpPr>
        <p:spPr bwMode="gray">
          <a:xfrm>
            <a:off x="-600" y="3777813"/>
            <a:ext cx="12193200" cy="288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75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(white)">
    <p:bg bwMode="lt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geNumber"/>
          <p:cNvSpPr txBox="1"/>
          <p:nvPr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  <p:sp>
        <p:nvSpPr>
          <p:cNvPr id="6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8" name="正方形/長方形 7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11944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s(white)">
    <p:bg bwMode="lt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"/>
          <p:cNvSpPr>
            <a:spLocks noGrp="1"/>
          </p:cNvSpPr>
          <p:nvPr>
            <p:ph sz="quarter" idx="12" hasCustomPrompt="1"/>
          </p:nvPr>
        </p:nvSpPr>
        <p:spPr bwMode="gray">
          <a:xfrm>
            <a:off x="263529" y="1016000"/>
            <a:ext cx="11664951" cy="5149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ja-JP" altLang="en-US" dirty="0" smtClean="0"/>
            </a:lvl1pPr>
            <a:lvl2pPr>
              <a:defRPr lang="ja-JP" altLang="en-US" dirty="0" smtClean="0"/>
            </a:lvl2pPr>
            <a:lvl3pPr>
              <a:defRPr lang="ja-JP" altLang="en-US" dirty="0" smtClean="0"/>
            </a:lvl3pPr>
            <a:lvl4pPr>
              <a:defRPr lang="ja-JP" altLang="en-US" dirty="0" smtClean="0"/>
            </a:lvl4pPr>
            <a:lvl5pPr>
              <a:defRPr lang="en-US" altLang="ja-JP" dirty="0" smtClean="0"/>
            </a:lvl5pPr>
          </a:lstStyle>
          <a:p>
            <a:pPr lvl="0"/>
            <a:r>
              <a:rPr kumimoji="1" lang="ja-JP" altLang="en-US" dirty="0"/>
              <a:t>本文を入力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文章を入力</a:t>
            </a:r>
            <a:endParaRPr kumimoji="1" lang="en-US" altLang="ja-JP" dirty="0"/>
          </a:p>
        </p:txBody>
      </p:sp>
      <p:sp>
        <p:nvSpPr>
          <p:cNvPr id="10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6" name="図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  <p:sp>
        <p:nvSpPr>
          <p:cNvPr id="11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8" name="正方形/長方形 7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24744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A4A3A4"/>
          </p15:clr>
        </p15:guide>
        <p15:guide id="2" orient="horz" pos="3884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ine Only(white)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  <p:sp>
        <p:nvSpPr>
          <p:cNvPr id="8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9" name="正方形/長方形 8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5915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ine ＆ Contents(white)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"/>
          <p:cNvSpPr>
            <a:spLocks noGrp="1"/>
          </p:cNvSpPr>
          <p:nvPr>
            <p:ph sz="quarter" idx="12" hasCustomPrompt="1"/>
          </p:nvPr>
        </p:nvSpPr>
        <p:spPr>
          <a:xfrm>
            <a:off x="263529" y="1172637"/>
            <a:ext cx="11664951" cy="4993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ja-JP" altLang="en-US" dirty="0" smtClean="0"/>
            </a:lvl1pPr>
            <a:lvl2pPr>
              <a:defRPr lang="ja-JP" altLang="en-US" dirty="0" smtClean="0"/>
            </a:lvl2pPr>
            <a:lvl3pPr>
              <a:defRPr lang="ja-JP" altLang="en-US" dirty="0" smtClean="0"/>
            </a:lvl3pPr>
            <a:lvl4pPr>
              <a:defRPr lang="ja-JP" altLang="en-US" dirty="0" smtClean="0"/>
            </a:lvl4pPr>
            <a:lvl5pPr>
              <a:defRPr lang="en-US" altLang="ja-JP" dirty="0" smtClean="0"/>
            </a:lvl5pPr>
          </a:lstStyle>
          <a:p>
            <a:pPr lvl="0"/>
            <a:r>
              <a:rPr kumimoji="1" lang="ja-JP" altLang="en-US" dirty="0"/>
              <a:t>本文を入力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文章を入力</a:t>
            </a:r>
            <a:endParaRPr kumimoji="1" lang="en-US" altLang="ja-JP" dirty="0"/>
          </a:p>
        </p:txBody>
      </p:sp>
      <p:sp>
        <p:nvSpPr>
          <p:cNvPr id="8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  <p:sp>
        <p:nvSpPr>
          <p:cNvPr id="7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10" name="正方形/長方形 9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1003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A4A3A4"/>
          </p15:clr>
        </p15:guide>
        <p15:guide id="2" orient="horz" pos="73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 line &amp; Contents(white)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"/>
          <p:cNvSpPr>
            <a:spLocks noGrp="1"/>
          </p:cNvSpPr>
          <p:nvPr>
            <p:ph sz="quarter" idx="12" hasCustomPrompt="1"/>
          </p:nvPr>
        </p:nvSpPr>
        <p:spPr>
          <a:xfrm>
            <a:off x="263529" y="2024065"/>
            <a:ext cx="11664951" cy="4141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ja-JP" altLang="en-US" dirty="0" smtClean="0"/>
            </a:lvl1pPr>
            <a:lvl2pPr>
              <a:defRPr lang="ja-JP" altLang="en-US" dirty="0" smtClean="0"/>
            </a:lvl2pPr>
            <a:lvl3pPr>
              <a:defRPr lang="ja-JP" altLang="en-US" dirty="0" smtClean="0"/>
            </a:lvl3pPr>
            <a:lvl4pPr>
              <a:defRPr lang="ja-JP" altLang="en-US" dirty="0" smtClean="0"/>
            </a:lvl4pPr>
            <a:lvl5pPr>
              <a:defRPr lang="en-US" altLang="ja-JP" dirty="0" smtClean="0"/>
            </a:lvl5pPr>
          </a:lstStyle>
          <a:p>
            <a:pPr lvl="0"/>
            <a:r>
              <a:rPr kumimoji="1" lang="ja-JP" altLang="en-US" dirty="0"/>
              <a:t>本文を入力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文章を入力</a:t>
            </a:r>
            <a:endParaRPr kumimoji="1" lang="en-US" altLang="ja-JP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263529" y="1010628"/>
            <a:ext cx="11664950" cy="822442"/>
          </a:xfr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100"/>
              </a:spcBef>
              <a:buFontTx/>
              <a:buNone/>
              <a:defRPr sz="2600"/>
            </a:lvl1pPr>
            <a:lvl2pPr marL="355557" indent="0">
              <a:buFontTx/>
              <a:buNone/>
              <a:defRPr sz="2600"/>
            </a:lvl2pPr>
            <a:lvl3pPr marL="598942" indent="0">
              <a:buFontTx/>
              <a:buNone/>
              <a:defRPr sz="2600"/>
            </a:lvl3pPr>
            <a:lvl4pPr marL="719578" indent="0">
              <a:buFontTx/>
              <a:buNone/>
              <a:defRPr sz="2600"/>
            </a:lvl4pPr>
            <a:lvl5pPr marL="835982" indent="0">
              <a:buFontTx/>
              <a:buNone/>
              <a:defRPr sz="2600"/>
            </a:lvl5pPr>
          </a:lstStyle>
          <a:p>
            <a:pPr lvl="0"/>
            <a:r>
              <a:rPr kumimoji="1" lang="ja-JP" altLang="en-US" dirty="0"/>
              <a:t>リード文が１行・２行ともにこのレイアウトで入力</a:t>
            </a:r>
          </a:p>
        </p:txBody>
      </p:sp>
      <p:sp>
        <p:nvSpPr>
          <p:cNvPr id="9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  <p:sp>
        <p:nvSpPr>
          <p:cNvPr id="10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13" name="正方形/長方形 12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504341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884">
          <p15:clr>
            <a:srgbClr val="A4A3A4"/>
          </p15:clr>
        </p15:guide>
        <p15:guide id="2" orient="horz" pos="1275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(white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  <p:sp>
        <p:nvSpPr>
          <p:cNvPr id="7" name="正方形/長方形 6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42774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(deep)">
    <p:bg bwMode="lt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bg1"/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616828" y="6517512"/>
            <a:ext cx="2311647" cy="182055"/>
          </a:xfrm>
          <a:prstGeom prst="rect">
            <a:avLst/>
          </a:prstGeom>
        </p:spPr>
      </p:pic>
      <p:sp>
        <p:nvSpPr>
          <p:cNvPr id="7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8" name="正方形/長方形 7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60144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s(deep)">
    <p:bg bwMode="lt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"/>
          <p:cNvSpPr>
            <a:spLocks noGrp="1"/>
          </p:cNvSpPr>
          <p:nvPr>
            <p:ph sz="quarter" idx="13" hasCustomPrompt="1"/>
          </p:nvPr>
        </p:nvSpPr>
        <p:spPr>
          <a:xfrm>
            <a:off x="263528" y="1016000"/>
            <a:ext cx="11664949" cy="5149850"/>
          </a:xfrm>
          <a:prstGeom prst="rect">
            <a:avLst/>
          </a:prstGeom>
        </p:spPr>
        <p:txBody>
          <a:bodyPr/>
          <a:lstStyle>
            <a:lvl1pPr marL="357666" indent="-357666">
              <a:lnSpc>
                <a:spcPct val="110000"/>
              </a:lnSpc>
              <a:spcBef>
                <a:spcPts val="600"/>
              </a:spcBef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u"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98929" indent="-241265">
              <a:lnSpc>
                <a:spcPct val="110000"/>
              </a:lnSpc>
              <a:spcBef>
                <a:spcPts val="600"/>
              </a:spcBef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715325" indent="-116401">
              <a:lnSpc>
                <a:spcPct val="110000"/>
              </a:lnSpc>
              <a:spcBef>
                <a:spcPts val="600"/>
              </a:spcBef>
              <a:buClr>
                <a:schemeClr val="bg1">
                  <a:lumMod val="95000"/>
                </a:schemeClr>
              </a:buClr>
              <a:defRPr sz="1600">
                <a:solidFill>
                  <a:schemeClr val="bg1">
                    <a:lumMod val="95000"/>
                  </a:schemeClr>
                </a:solidFill>
              </a:defRPr>
            </a:lvl3pPr>
            <a:lvl4pPr marL="838078" indent="-118517">
              <a:lnSpc>
                <a:spcPct val="110000"/>
              </a:lnSpc>
              <a:spcBef>
                <a:spcPts val="600"/>
              </a:spcBef>
              <a:buClr>
                <a:schemeClr val="bg1">
                  <a:lumMod val="95000"/>
                </a:schemeClr>
              </a:buClr>
              <a:defRPr sz="1400">
                <a:solidFill>
                  <a:schemeClr val="bg1">
                    <a:lumMod val="95000"/>
                  </a:schemeClr>
                </a:solidFill>
              </a:defRPr>
            </a:lvl4pPr>
            <a:lvl5pPr marL="838078" indent="0">
              <a:lnSpc>
                <a:spcPct val="110000"/>
              </a:lnSpc>
              <a:spcBef>
                <a:spcPts val="500"/>
              </a:spcBef>
              <a:buClr>
                <a:schemeClr val="bg1">
                  <a:lumMod val="95000"/>
                </a:schemeClr>
              </a:buClr>
              <a:buFontTx/>
              <a:buNone/>
              <a:defRPr sz="1400" b="0"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本文を入力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文章を入力</a:t>
            </a:r>
            <a:endParaRPr kumimoji="1" lang="en-US" altLang="ja-JP" dirty="0"/>
          </a:p>
        </p:txBody>
      </p:sp>
      <p:sp>
        <p:nvSpPr>
          <p:cNvPr id="10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bg1"/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616828" y="6517512"/>
            <a:ext cx="2311647" cy="182055"/>
          </a:xfrm>
          <a:prstGeom prst="rect">
            <a:avLst/>
          </a:prstGeom>
        </p:spPr>
      </p:pic>
      <p:sp>
        <p:nvSpPr>
          <p:cNvPr id="8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7" name="正方形/長方形 6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59873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A4A3A4"/>
          </p15:clr>
        </p15:guide>
        <p15:guide id="2" orient="horz" pos="3884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ine Only(deep)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bg1"/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9616828" y="6517512"/>
            <a:ext cx="2311647" cy="182055"/>
          </a:xfrm>
          <a:prstGeom prst="rect">
            <a:avLst/>
          </a:prstGeom>
        </p:spPr>
      </p:pic>
      <p:sp>
        <p:nvSpPr>
          <p:cNvPr id="8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7" name="正方形/長方形 6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28733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ine ＆ Contents(deep)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"/>
          <p:cNvSpPr>
            <a:spLocks noGrp="1"/>
          </p:cNvSpPr>
          <p:nvPr>
            <p:ph sz="quarter" idx="13" hasCustomPrompt="1"/>
          </p:nvPr>
        </p:nvSpPr>
        <p:spPr>
          <a:xfrm>
            <a:off x="263529" y="1172637"/>
            <a:ext cx="11664951" cy="4993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Clr>
                <a:schemeClr val="bg1">
                  <a:lumMod val="95000"/>
                </a:schemeClr>
              </a:buClr>
              <a:defRPr lang="ja-JP" altLang="en-US" dirty="0" smtClean="0">
                <a:solidFill>
                  <a:schemeClr val="bg1">
                    <a:lumMod val="95000"/>
                  </a:schemeClr>
                </a:solidFill>
              </a:defRPr>
            </a:lvl1pPr>
            <a:lvl2pPr>
              <a:buClr>
                <a:schemeClr val="bg1">
                  <a:lumMod val="95000"/>
                </a:schemeClr>
              </a:buClr>
              <a:defRPr lang="ja-JP" altLang="en-US" dirty="0" smtClean="0">
                <a:solidFill>
                  <a:schemeClr val="bg1">
                    <a:lumMod val="95000"/>
                  </a:schemeClr>
                </a:solidFill>
              </a:defRPr>
            </a:lvl2pPr>
            <a:lvl3pPr>
              <a:buClr>
                <a:schemeClr val="bg1">
                  <a:lumMod val="95000"/>
                </a:schemeClr>
              </a:buClr>
              <a:defRPr lang="ja-JP" altLang="en-US" dirty="0" smtClean="0">
                <a:solidFill>
                  <a:schemeClr val="bg1">
                    <a:lumMod val="95000"/>
                  </a:schemeClr>
                </a:solidFill>
              </a:defRPr>
            </a:lvl3pPr>
            <a:lvl4pPr>
              <a:buClr>
                <a:schemeClr val="bg1">
                  <a:lumMod val="95000"/>
                </a:schemeClr>
              </a:buClr>
              <a:defRPr lang="en-US" altLang="ja-JP" dirty="0" smtClean="0">
                <a:solidFill>
                  <a:schemeClr val="bg1">
                    <a:lumMod val="95000"/>
                  </a:schemeClr>
                </a:solidFill>
              </a:defRPr>
            </a:lvl4pPr>
            <a:lvl5pPr>
              <a:buClr>
                <a:schemeClr val="bg1">
                  <a:lumMod val="95000"/>
                </a:schemeClr>
              </a:buClr>
              <a:defRPr lang="en-US" altLang="ja-JP" dirty="0" smtClean="0"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marL="357666" lvl="0" indent="-357666">
              <a:buClr>
                <a:schemeClr val="bg1">
                  <a:lumMod val="95000"/>
                </a:schemeClr>
              </a:buClr>
            </a:pPr>
            <a:r>
              <a:rPr kumimoji="1" lang="ja-JP" altLang="en-US" dirty="0"/>
              <a:t>本文を入力</a:t>
            </a:r>
          </a:p>
          <a:p>
            <a:pPr marL="598929" lvl="1" indent="-241265">
              <a:buClr>
                <a:schemeClr val="bg1">
                  <a:lumMod val="95000"/>
                </a:schemeClr>
              </a:buClr>
            </a:pPr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marL="715325" lvl="2" indent="-116401">
              <a:buClr>
                <a:schemeClr val="bg1">
                  <a:lumMod val="95000"/>
                </a:schemeClr>
              </a:buClr>
            </a:pPr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marL="838078" lvl="3" indent="-118517">
              <a:buClr>
                <a:schemeClr val="bg1">
                  <a:lumMod val="95000"/>
                </a:schemeClr>
              </a:buClr>
            </a:pPr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marL="838078" lvl="4"/>
            <a:r>
              <a:rPr kumimoji="1" lang="ja-JP" altLang="en-US" dirty="0"/>
              <a:t>文章を入力</a:t>
            </a:r>
            <a:endParaRPr kumimoji="1" lang="en-US" altLang="ja-JP" dirty="0"/>
          </a:p>
        </p:txBody>
      </p:sp>
      <p:sp>
        <p:nvSpPr>
          <p:cNvPr id="7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bg1"/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9616828" y="6517512"/>
            <a:ext cx="2311647" cy="182055"/>
          </a:xfrm>
          <a:prstGeom prst="rect">
            <a:avLst/>
          </a:prstGeom>
        </p:spPr>
      </p:pic>
      <p:sp>
        <p:nvSpPr>
          <p:cNvPr id="10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9" name="正方形/長方形 8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1103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A4A3A4"/>
          </p15:clr>
        </p15:guide>
        <p15:guide id="2" orient="horz" pos="3884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 line &amp; Contents(deep)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"/>
          <p:cNvSpPr>
            <a:spLocks noGrp="1"/>
          </p:cNvSpPr>
          <p:nvPr>
            <p:ph sz="quarter" idx="13" hasCustomPrompt="1"/>
          </p:nvPr>
        </p:nvSpPr>
        <p:spPr>
          <a:xfrm>
            <a:off x="263529" y="2024065"/>
            <a:ext cx="11664951" cy="4141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Clr>
                <a:schemeClr val="bg1">
                  <a:lumMod val="95000"/>
                </a:schemeClr>
              </a:buClr>
              <a:defRPr lang="ja-JP" altLang="en-US" dirty="0" smtClean="0">
                <a:solidFill>
                  <a:schemeClr val="bg1">
                    <a:lumMod val="95000"/>
                  </a:schemeClr>
                </a:solidFill>
              </a:defRPr>
            </a:lvl1pPr>
            <a:lvl2pPr>
              <a:buClr>
                <a:schemeClr val="bg1">
                  <a:lumMod val="95000"/>
                </a:schemeClr>
              </a:buClr>
              <a:defRPr lang="ja-JP" altLang="en-US" dirty="0" smtClean="0">
                <a:solidFill>
                  <a:schemeClr val="bg1">
                    <a:lumMod val="95000"/>
                  </a:schemeClr>
                </a:solidFill>
              </a:defRPr>
            </a:lvl2pPr>
            <a:lvl3pPr>
              <a:buClr>
                <a:schemeClr val="bg1">
                  <a:lumMod val="95000"/>
                </a:schemeClr>
              </a:buClr>
              <a:defRPr lang="ja-JP" altLang="en-US" dirty="0" smtClean="0">
                <a:solidFill>
                  <a:schemeClr val="bg1">
                    <a:lumMod val="95000"/>
                  </a:schemeClr>
                </a:solidFill>
              </a:defRPr>
            </a:lvl3pPr>
            <a:lvl4pPr>
              <a:buClr>
                <a:schemeClr val="bg1">
                  <a:lumMod val="95000"/>
                </a:schemeClr>
              </a:buClr>
              <a:defRPr lang="en-US" altLang="ja-JP" dirty="0" smtClean="0">
                <a:solidFill>
                  <a:schemeClr val="bg1">
                    <a:lumMod val="95000"/>
                  </a:schemeClr>
                </a:solidFill>
              </a:defRPr>
            </a:lvl4pPr>
            <a:lvl5pPr>
              <a:buClr>
                <a:schemeClr val="bg1">
                  <a:lumMod val="95000"/>
                </a:schemeClr>
              </a:buClr>
              <a:defRPr lang="en-US" altLang="ja-JP" dirty="0" smtClean="0"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marL="357666" lvl="0" indent="-357666">
              <a:buClr>
                <a:schemeClr val="bg1">
                  <a:lumMod val="95000"/>
                </a:schemeClr>
              </a:buClr>
            </a:pPr>
            <a:r>
              <a:rPr kumimoji="1" lang="ja-JP" altLang="en-US" dirty="0"/>
              <a:t>本文を入力</a:t>
            </a:r>
          </a:p>
          <a:p>
            <a:pPr marL="598929" lvl="1" indent="-241265">
              <a:buClr>
                <a:schemeClr val="bg1">
                  <a:lumMod val="95000"/>
                </a:schemeClr>
              </a:buClr>
            </a:pPr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marL="715325" lvl="2" indent="-116401">
              <a:buClr>
                <a:schemeClr val="bg1">
                  <a:lumMod val="95000"/>
                </a:schemeClr>
              </a:buClr>
            </a:pPr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marL="838078" lvl="3" indent="-118517">
              <a:buClr>
                <a:schemeClr val="bg1">
                  <a:lumMod val="95000"/>
                </a:schemeClr>
              </a:buClr>
            </a:pPr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marL="838078" lvl="4"/>
            <a:r>
              <a:rPr kumimoji="1" lang="ja-JP" altLang="en-US" dirty="0"/>
              <a:t>文章を入力</a:t>
            </a:r>
            <a:endParaRPr kumimoji="1" lang="en-US" altLang="ja-JP" dirty="0"/>
          </a:p>
        </p:txBody>
      </p:sp>
      <p:sp>
        <p:nvSpPr>
          <p:cNvPr id="13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263529" y="1010628"/>
            <a:ext cx="11664950" cy="822442"/>
          </a:xfr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100"/>
              </a:spcBef>
              <a:buFontTx/>
              <a:buNone/>
              <a:defRPr sz="2600">
                <a:solidFill>
                  <a:schemeClr val="bg1">
                    <a:lumMod val="95000"/>
                  </a:schemeClr>
                </a:solidFill>
              </a:defRPr>
            </a:lvl1pPr>
            <a:lvl2pPr marL="355557" indent="0">
              <a:buFontTx/>
              <a:buNone/>
              <a:defRPr sz="2600"/>
            </a:lvl2pPr>
            <a:lvl3pPr marL="598942" indent="0">
              <a:buFontTx/>
              <a:buNone/>
              <a:defRPr sz="2600"/>
            </a:lvl3pPr>
            <a:lvl4pPr marL="719578" indent="0">
              <a:buFontTx/>
              <a:buNone/>
              <a:defRPr sz="2600"/>
            </a:lvl4pPr>
            <a:lvl5pPr marL="835982" indent="0">
              <a:buFontTx/>
              <a:buNone/>
              <a:defRPr sz="2600"/>
            </a:lvl5pPr>
          </a:lstStyle>
          <a:p>
            <a:pPr lvl="0"/>
            <a:r>
              <a:rPr kumimoji="1" lang="ja-JP" altLang="en-US" dirty="0"/>
              <a:t>リード文が１行・２行ともにこのレイアウトで入力</a:t>
            </a:r>
          </a:p>
        </p:txBody>
      </p:sp>
      <p:sp>
        <p:nvSpPr>
          <p:cNvPr id="9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bg1"/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9616828" y="6517512"/>
            <a:ext cx="2311647" cy="182055"/>
          </a:xfrm>
          <a:prstGeom prst="rect">
            <a:avLst/>
          </a:prstGeom>
        </p:spPr>
      </p:pic>
      <p:sp>
        <p:nvSpPr>
          <p:cNvPr id="8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タイトルを入力</a:t>
            </a:r>
          </a:p>
        </p:txBody>
      </p:sp>
      <p:sp>
        <p:nvSpPr>
          <p:cNvPr id="11" name="正方形/長方形 10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3687889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275">
          <p15:clr>
            <a:srgbClr val="A4A3A4"/>
          </p15:clr>
        </p15:guide>
        <p15:guide id="2" orient="horz" pos="3884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(deep)">
    <p:bg bwMode="lt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bg1"/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616828" y="6517512"/>
            <a:ext cx="2311647" cy="182055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66366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ose_B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350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rporate Mark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/>
          <p:cNvGrpSpPr/>
          <p:nvPr userDrawn="1"/>
        </p:nvGrpSpPr>
        <p:grpSpPr>
          <a:xfrm>
            <a:off x="11071921" y="6971182"/>
            <a:ext cx="1119015" cy="460404"/>
            <a:chOff x="11071921" y="6971182"/>
            <a:chExt cx="1119015" cy="460404"/>
          </a:xfrm>
        </p:grpSpPr>
        <p:sp>
          <p:nvSpPr>
            <p:cNvPr id="17" name="テキスト ボックス 16"/>
            <p:cNvSpPr txBox="1"/>
            <p:nvPr/>
          </p:nvSpPr>
          <p:spPr>
            <a:xfrm>
              <a:off x="11302865" y="7216142"/>
              <a:ext cx="751809" cy="21544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kumimoji="1" lang="en-US" altLang="ja-JP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Brighter</a:t>
              </a:r>
              <a:r>
                <a:rPr kumimoji="1" lang="en-US" altLang="ja-JP" sz="800" b="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kumimoji="1" lang="en-US" altLang="ja-JP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Orange</a:t>
              </a:r>
              <a:endParaRPr kumimoji="1" lang="ja-JP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3" name="正方形/長方形 22"/>
            <p:cNvSpPr/>
            <p:nvPr userDrawn="1"/>
          </p:nvSpPr>
          <p:spPr bwMode="gray">
            <a:xfrm>
              <a:off x="11071921" y="6990230"/>
              <a:ext cx="187539" cy="187536"/>
            </a:xfrm>
            <a:prstGeom prst="rect">
              <a:avLst/>
            </a:prstGeom>
            <a:solidFill>
              <a:srgbClr val="002B6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400" b="1" dirty="0">
                <a:latin typeface="+mj-ea"/>
                <a:ea typeface="+mj-ea"/>
              </a:endParaRPr>
            </a:p>
          </p:txBody>
        </p:sp>
        <p:sp>
          <p:nvSpPr>
            <p:cNvPr id="24" name="テキスト ボックス 23"/>
            <p:cNvSpPr txBox="1"/>
            <p:nvPr userDrawn="1"/>
          </p:nvSpPr>
          <p:spPr bwMode="gray">
            <a:xfrm>
              <a:off x="11302872" y="6971182"/>
              <a:ext cx="888064" cy="21544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kumimoji="1" lang="en-US" altLang="ja-JP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Orchestrating </a:t>
              </a:r>
              <a:r>
                <a:rPr kumimoji="1" lang="en-US" altLang="ja-JP" sz="800" b="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Blue</a:t>
              </a:r>
              <a:endParaRPr kumimoji="1" lang="ja-JP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1" name="正方形/長方形 20"/>
            <p:cNvSpPr/>
            <p:nvPr userDrawn="1"/>
          </p:nvSpPr>
          <p:spPr bwMode="gray">
            <a:xfrm>
              <a:off x="11072002" y="7235263"/>
              <a:ext cx="188160" cy="188160"/>
            </a:xfrm>
            <a:prstGeom prst="rect">
              <a:avLst/>
            </a:prstGeom>
            <a:solidFill>
              <a:srgbClr val="EB6E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400" b="1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7492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"/>
          </p:nvPr>
        </p:nvSpPr>
        <p:spPr>
          <a:xfrm>
            <a:off x="263529" y="980022"/>
            <a:ext cx="11664951" cy="5137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kumimoji="1" lang="ja-JP" altLang="en-US" dirty="0"/>
              <a:t>Master Text Formatting</a:t>
            </a:r>
          </a:p>
          <a:p>
            <a:pPr lvl="1"/>
            <a:r>
              <a:rPr kumimoji="1" lang="en-US" altLang="ja-JP" dirty="0"/>
              <a:t>Second </a:t>
            </a:r>
            <a:r>
              <a:rPr kumimoji="1" lang="ja-JP" altLang="en-US" dirty="0"/>
              <a:t>Level</a:t>
            </a:r>
          </a:p>
          <a:p>
            <a:pPr lvl="2"/>
            <a:r>
              <a:rPr kumimoji="1" lang="en-US" altLang="ja-JP" dirty="0"/>
              <a:t>Third </a:t>
            </a:r>
            <a:r>
              <a:rPr kumimoji="1" lang="ja-JP" altLang="en-US" dirty="0"/>
              <a:t>Level</a:t>
            </a:r>
          </a:p>
          <a:p>
            <a:pPr lvl="3"/>
            <a:r>
              <a:rPr kumimoji="1" lang="en-US" altLang="ja-JP" dirty="0"/>
              <a:t>4th </a:t>
            </a:r>
            <a:r>
              <a:rPr kumimoji="1" lang="ja-JP" altLang="en-US" dirty="0"/>
              <a:t>level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Enter text</a:t>
            </a:r>
            <a:endParaRPr kumimoji="1" lang="en-US" altLang="ja-JP" dirty="0"/>
          </a:p>
        </p:txBody>
      </p:sp>
      <p:sp>
        <p:nvSpPr>
          <p:cNvPr id="6" name="Credit"/>
          <p:cNvSpPr txBox="1">
            <a:spLocks/>
          </p:cNvSpPr>
          <p:nvPr userDrawn="1"/>
        </p:nvSpPr>
        <p:spPr bwMode="gray">
          <a:xfrm>
            <a:off x="677044" y="6485380"/>
            <a:ext cx="156401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800" b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9pPr>
          </a:lstStyle>
          <a:p>
            <a:r>
              <a:rPr lang="en-US" altLang="ja-JP" sz="900" b="0" baseline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t>© NEC Corporation 2021</a:t>
            </a:r>
          </a:p>
        </p:txBody>
      </p:sp>
      <p:sp>
        <p:nvSpPr>
          <p:cNvPr id="7" name="Confidential"/>
          <p:cNvSpPr txBox="1">
            <a:spLocks/>
          </p:cNvSpPr>
          <p:nvPr userDrawn="1"/>
        </p:nvSpPr>
        <p:spPr bwMode="gray">
          <a:xfrm>
            <a:off x="2241063" y="6485380"/>
            <a:ext cx="191464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800" b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HGP創英角ｺﾞｼｯｸUB" pitchFamily="50" charset="-128"/>
                <a:cs typeface="+mn-cs"/>
              </a:defRPr>
            </a:lvl9pPr>
          </a:lstStyle>
          <a:p>
            <a:r>
              <a:rPr lang="en-US" altLang="ja-JP" sz="900" b="0" baseline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t>NEC Group Internal Use Only</a:t>
            </a:r>
          </a:p>
        </p:txBody>
      </p:sp>
      <p:sp>
        <p:nvSpPr>
          <p:cNvPr id="9" name="タイトル プレースホルダー"/>
          <p:cNvSpPr>
            <a:spLocks noGrp="1"/>
          </p:cNvSpPr>
          <p:nvPr>
            <p:ph type="title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defTabSz="1219110" latinLnBrk="0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</a:pPr>
            <a:r>
              <a:rPr kumimoji="1" lang="ja-JP" altLang="en-US" dirty="0"/>
              <a:t>Master Title Formatting</a:t>
            </a:r>
          </a:p>
        </p:txBody>
      </p:sp>
    </p:spTree>
    <p:extLst>
      <p:ext uri="{BB962C8B-B14F-4D97-AF65-F5344CB8AC3E}">
        <p14:creationId xmlns:p14="http://schemas.microsoft.com/office/powerpoint/2010/main" val="172932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ja-JP" altLang="en-US" sz="3200" b="0" i="0" u="none" strike="noStrike" kern="0" cap="none" spc="0" normalizeH="0" baseline="0" dirty="0">
          <a:ln>
            <a:noFill/>
          </a:ln>
          <a:solidFill>
            <a:schemeClr val="tx1">
              <a:lumMod val="85000"/>
              <a:lumOff val="15000"/>
            </a:schemeClr>
          </a:solidFill>
          <a:effectLst/>
          <a:uLnTx/>
          <a:uFillTx/>
          <a:latin typeface="+mj-ea"/>
          <a:ea typeface="+mj-ea"/>
          <a:cs typeface="+mn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733">
          <a:solidFill>
            <a:schemeClr val="tx1"/>
          </a:solidFill>
          <a:latin typeface="HGP創英角ｺﾞｼｯｸUB" pitchFamily="50" charset="-128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733">
          <a:solidFill>
            <a:schemeClr val="tx1"/>
          </a:solidFill>
          <a:latin typeface="HGP創英角ｺﾞｼｯｸUB" pitchFamily="50" charset="-128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733">
          <a:solidFill>
            <a:schemeClr val="tx1"/>
          </a:solidFill>
          <a:latin typeface="HGP創英角ｺﾞｼｯｸUB" pitchFamily="50" charset="-128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733">
          <a:solidFill>
            <a:schemeClr val="tx1"/>
          </a:solidFill>
          <a:latin typeface="HGP創英角ｺﾞｼｯｸUB" pitchFamily="50" charset="-128"/>
          <a:ea typeface="ＭＳ Ｐゴシック" charset="-128"/>
        </a:defRPr>
      </a:lvl5pPr>
      <a:lvl6pPr marL="609523" algn="l" rtl="0" eaLnBrk="1" fontAlgn="base" hangingPunct="1">
        <a:spcBef>
          <a:spcPct val="0"/>
        </a:spcBef>
        <a:spcAft>
          <a:spcPct val="0"/>
        </a:spcAft>
        <a:defRPr kumimoji="1" sz="3733">
          <a:solidFill>
            <a:schemeClr val="tx1"/>
          </a:solidFill>
          <a:latin typeface="HGP創英角ｺﾞｼｯｸUB" pitchFamily="50" charset="-128"/>
          <a:ea typeface="ＭＳ Ｐゴシック" charset="-128"/>
        </a:defRPr>
      </a:lvl6pPr>
      <a:lvl7pPr marL="1219050" algn="l" rtl="0" eaLnBrk="1" fontAlgn="base" hangingPunct="1">
        <a:spcBef>
          <a:spcPct val="0"/>
        </a:spcBef>
        <a:spcAft>
          <a:spcPct val="0"/>
        </a:spcAft>
        <a:defRPr kumimoji="1" sz="3733">
          <a:solidFill>
            <a:schemeClr val="tx1"/>
          </a:solidFill>
          <a:latin typeface="HGP創英角ｺﾞｼｯｸUB" pitchFamily="50" charset="-128"/>
          <a:ea typeface="ＭＳ Ｐゴシック" charset="-128"/>
        </a:defRPr>
      </a:lvl7pPr>
      <a:lvl8pPr marL="1828573" algn="l" rtl="0" eaLnBrk="1" fontAlgn="base" hangingPunct="1">
        <a:spcBef>
          <a:spcPct val="0"/>
        </a:spcBef>
        <a:spcAft>
          <a:spcPct val="0"/>
        </a:spcAft>
        <a:defRPr kumimoji="1" sz="3733">
          <a:solidFill>
            <a:schemeClr val="tx1"/>
          </a:solidFill>
          <a:latin typeface="HGP創英角ｺﾞｼｯｸUB" pitchFamily="50" charset="-128"/>
          <a:ea typeface="ＭＳ Ｐゴシック" charset="-128"/>
        </a:defRPr>
      </a:lvl8pPr>
      <a:lvl9pPr marL="2438098" algn="l" rtl="0" eaLnBrk="1" fontAlgn="base" hangingPunct="1">
        <a:spcBef>
          <a:spcPct val="0"/>
        </a:spcBef>
        <a:spcAft>
          <a:spcPct val="0"/>
        </a:spcAft>
        <a:defRPr kumimoji="1" sz="3733">
          <a:solidFill>
            <a:schemeClr val="tx1"/>
          </a:solidFill>
          <a:latin typeface="HGP創英角ｺﾞｼｯｸUB" pitchFamily="50" charset="-128"/>
          <a:ea typeface="ＭＳ Ｐゴシック" charset="-128"/>
        </a:defRPr>
      </a:lvl9pPr>
    </p:titleStyle>
    <p:bodyStyle>
      <a:lvl1pPr marL="355558" indent="-355558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u"/>
        <a:defRPr kumimoji="1" lang="ja-JP" altLang="en-US" sz="2400" b="0" i="0" u="none" strike="noStrike" kern="0" cap="none" spc="0" normalizeH="0" baseline="0" dirty="0" smtClean="0">
          <a:ln>
            <a:noFill/>
          </a:ln>
          <a:solidFill>
            <a:schemeClr val="tx1">
              <a:lumMod val="85000"/>
              <a:lumOff val="15000"/>
            </a:schemeClr>
          </a:solidFill>
          <a:effectLst/>
          <a:uLnTx/>
          <a:uFillTx/>
          <a:latin typeface="+mn-lt"/>
          <a:ea typeface="+mn-ea"/>
          <a:cs typeface="+mn-cs"/>
        </a:defRPr>
      </a:lvl1pPr>
      <a:lvl2pPr marL="598944" indent="-243387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n"/>
        <a:defRPr kumimoji="1" lang="ja-JP" altLang="en-US" sz="2000" b="0" i="0" u="none" strike="noStrike" kern="0" cap="none" spc="0" normalizeH="0" baseline="0" dirty="0" smtClean="0">
          <a:ln>
            <a:noFill/>
          </a:ln>
          <a:solidFill>
            <a:schemeClr val="tx1">
              <a:lumMod val="85000"/>
              <a:lumOff val="15000"/>
            </a:schemeClr>
          </a:solidFill>
          <a:effectLst/>
          <a:uLnTx/>
          <a:uFillTx/>
          <a:latin typeface="+mn-lt"/>
          <a:ea typeface="+mn-ea"/>
        </a:defRPr>
      </a:lvl2pPr>
      <a:lvl3pPr marL="721695" indent="-122753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kumimoji="1" lang="ja-JP" altLang="en-US" sz="1600" b="0" i="0" u="none" strike="noStrike" kern="0" cap="none" spc="0" normalizeH="0" baseline="0" dirty="0" smtClean="0">
          <a:ln>
            <a:noFill/>
          </a:ln>
          <a:solidFill>
            <a:schemeClr val="tx1">
              <a:lumMod val="85000"/>
              <a:lumOff val="15000"/>
            </a:schemeClr>
          </a:solidFill>
          <a:effectLst/>
          <a:uLnTx/>
          <a:uFillTx/>
          <a:latin typeface="+mn-lt"/>
          <a:ea typeface="+mn-ea"/>
        </a:defRPr>
      </a:lvl3pPr>
      <a:lvl4pPr marL="838098" indent="-118520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chemeClr val="accent1"/>
        </a:buClr>
        <a:buFont typeface="Tahoma" pitchFamily="34" charset="0"/>
        <a:buChar char="–"/>
        <a:defRPr kumimoji="1" lang="ja-JP" altLang="en-US" sz="1400" b="0" i="0" u="none" strike="noStrike" kern="0" cap="none" spc="0" normalizeH="0" baseline="0" dirty="0" smtClean="0">
          <a:ln>
            <a:noFill/>
          </a:ln>
          <a:solidFill>
            <a:schemeClr val="tx1">
              <a:lumMod val="85000"/>
              <a:lumOff val="15000"/>
            </a:schemeClr>
          </a:solidFill>
          <a:effectLst/>
          <a:uLnTx/>
          <a:uFillTx/>
          <a:latin typeface="+mn-lt"/>
          <a:ea typeface="+mn-ea"/>
        </a:defRPr>
      </a:lvl4pPr>
      <a:lvl5pPr marL="835982" indent="0" algn="l" rtl="0" eaLnBrk="1" fontAlgn="base" hangingPunct="1">
        <a:lnSpc>
          <a:spcPct val="110000"/>
        </a:lnSpc>
        <a:spcBef>
          <a:spcPts val="500"/>
        </a:spcBef>
        <a:spcAft>
          <a:spcPct val="0"/>
        </a:spcAft>
        <a:buClr>
          <a:schemeClr val="accent6"/>
        </a:buClr>
        <a:buFontTx/>
        <a:buNone/>
        <a:defRPr kumimoji="1" sz="1400" b="0">
          <a:solidFill>
            <a:schemeClr val="tx1">
              <a:lumMod val="85000"/>
              <a:lumOff val="15000"/>
            </a:schemeClr>
          </a:solidFill>
          <a:latin typeface="+mj-lt"/>
          <a:ea typeface="+mn-ea"/>
        </a:defRPr>
      </a:lvl5pPr>
      <a:lvl6pPr marL="3352380" indent="-304760" algn="l" rtl="0" eaLnBrk="1" fontAlgn="base" hangingPunct="1">
        <a:spcBef>
          <a:spcPct val="20000"/>
        </a:spcBef>
        <a:spcAft>
          <a:spcPct val="0"/>
        </a:spcAft>
        <a:buChar char="≫"/>
        <a:defRPr kumimoji="1" sz="2667">
          <a:solidFill>
            <a:schemeClr val="tx1"/>
          </a:solidFill>
          <a:latin typeface="Arial" charset="0"/>
          <a:ea typeface="+mn-ea"/>
        </a:defRPr>
      </a:lvl6pPr>
      <a:lvl7pPr marL="3961906" indent="-304760" algn="l" rtl="0" eaLnBrk="1" fontAlgn="base" hangingPunct="1">
        <a:spcBef>
          <a:spcPct val="20000"/>
        </a:spcBef>
        <a:spcAft>
          <a:spcPct val="0"/>
        </a:spcAft>
        <a:buChar char="≫"/>
        <a:defRPr kumimoji="1" sz="2667">
          <a:solidFill>
            <a:schemeClr val="tx1"/>
          </a:solidFill>
          <a:latin typeface="Arial" charset="0"/>
          <a:ea typeface="+mn-ea"/>
        </a:defRPr>
      </a:lvl7pPr>
      <a:lvl8pPr marL="4571430" indent="-304760" algn="l" rtl="0" eaLnBrk="1" fontAlgn="base" hangingPunct="1">
        <a:spcBef>
          <a:spcPct val="20000"/>
        </a:spcBef>
        <a:spcAft>
          <a:spcPct val="0"/>
        </a:spcAft>
        <a:buChar char="≫"/>
        <a:defRPr kumimoji="1" sz="2667">
          <a:solidFill>
            <a:schemeClr val="tx1"/>
          </a:solidFill>
          <a:latin typeface="Arial" charset="0"/>
          <a:ea typeface="+mn-ea"/>
        </a:defRPr>
      </a:lvl8pPr>
      <a:lvl9pPr marL="5180953" indent="-304760" algn="l" rtl="0" eaLnBrk="1" fontAlgn="base" hangingPunct="1">
        <a:spcBef>
          <a:spcPct val="20000"/>
        </a:spcBef>
        <a:spcAft>
          <a:spcPct val="0"/>
        </a:spcAft>
        <a:buChar char="≫"/>
        <a:defRPr kumimoji="1" sz="2667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ja-JP"/>
      </a:defPPr>
      <a:lvl1pPr marL="0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3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50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73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98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20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43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67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91" algn="l" defTabSz="121905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4043">
          <p15:clr>
            <a:srgbClr val="A4A3A4"/>
          </p15:clr>
        </p15:guide>
        <p15:guide id="2" pos="167">
          <p15:clr>
            <a:srgbClr val="A4A3A4"/>
          </p15:clr>
        </p15:guide>
        <p15:guide id="3" pos="7515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4042">
          <p15:clr>
            <a:srgbClr val="A4A3A4"/>
          </p15:clr>
        </p15:guide>
        <p15:guide id="6" pos="166">
          <p15:clr>
            <a:srgbClr val="A4A3A4"/>
          </p15:clr>
        </p15:guide>
        <p15:guide id="7" pos="751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elasticloadbalancing/latest/application/load-balancer-access-logs.html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19BD4CB-712E-9093-B891-7BA7EDEA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200" b="1" dirty="0"/>
              <a:t>Scenario Data Summary</a:t>
            </a:r>
          </a:p>
        </p:txBody>
      </p:sp>
    </p:spTree>
    <p:extLst>
      <p:ext uri="{BB962C8B-B14F-4D97-AF65-F5344CB8AC3E}">
        <p14:creationId xmlns:p14="http://schemas.microsoft.com/office/powerpoint/2010/main" val="2558128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4B876A2-D2D1-9487-56AD-454977E9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 b="1" dirty="0"/>
              <a:t>Item </a:t>
            </a:r>
            <a:r>
              <a:rPr kumimoji="1" lang="en-US" altLang="ja-JP" sz="2400" b="1" dirty="0"/>
              <a:t>#5: </a:t>
            </a:r>
            <a:r>
              <a:rPr kumimoji="1" lang="ja-JP" altLang="en-US" sz="2400" b="1" dirty="0"/>
              <a:t>Half-life scenario for services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A5726A4-7E56-50C5-A58E-99F1C72335F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97921" indent="-285750">
              <a:buClr>
                <a:srgbClr val="1E32A5"/>
              </a:buClr>
              <a:defRPr/>
            </a:pPr>
            <a:r>
              <a:rPr kumimoji="1" lang="ja-JP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游ゴシック"/>
                <a:ea typeface="游ゴシック"/>
              </a:rPr>
              <a:t>Event: 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Processing of requests from </a:t>
            </a:r>
            <a:r>
              <a:rPr kumimoji="1" lang="ja-JP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游ゴシック"/>
                <a:ea typeface="游ゴシック"/>
              </a:rPr>
              <a:t>some 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users is frequently delayed.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endParaRPr kumimoji="1" lang="en-US" altLang="ja-JP" sz="14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r>
              <a:rPr kumimoji="1" lang="ja-JP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游ゴシック"/>
                <a:ea typeface="游ゴシック"/>
              </a:rPr>
              <a:t>Cause: One of the duplicated </a:t>
            </a: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游ゴシック"/>
                <a:ea typeface="游ゴシック"/>
              </a:rPr>
              <a:t>pods </a:t>
            </a:r>
            <a:r>
              <a:rPr kumimoji="1" lang="ja-JP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游ゴシック"/>
                <a:ea typeface="游ゴシック"/>
              </a:rPr>
              <a:t>in the load balancer is running, but a latent bug causes the </a:t>
            </a:r>
            <a:r>
              <a:rPr kumimoji="1" lang="en-US" altLang="ja-JP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游ゴシック"/>
                <a:ea typeface="游ゴシック"/>
              </a:rPr>
              <a:t>cpu to </a:t>
            </a:r>
            <a:r>
              <a:rPr kumimoji="1" lang="ja-JP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游ゴシック"/>
                <a:ea typeface="游ゴシック"/>
              </a:rPr>
              <a:t>rise, resulting in a slowdown in processing speed. As a result, latency increases for some users accessing the slow </a:t>
            </a: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游ゴシック"/>
                <a:ea typeface="游ゴシック"/>
              </a:rPr>
              <a:t>pod.</a:t>
            </a:r>
          </a:p>
          <a:p>
            <a:pPr marL="397921" indent="-285750">
              <a:buClr>
                <a:srgbClr val="1E32A5"/>
              </a:buClr>
              <a:defRPr/>
            </a:pP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Difficulty in identifying the cause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Since the pod or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service itself is not dead, autoscaling does not take place and is difficult to notice.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One </a:t>
            </a: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 is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processing as usual, so there is no continuous effect on latency.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Since it does not appear in error rates, it is difficult to notice a failure without pinpointing and setting an alert for </a:t>
            </a:r>
            <a:r>
              <a:rPr lang="en-US" altLang="ja-JP" sz="10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cpu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utilization of individual pods, which may be similar to a silent failure.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Events that may be noticed by user reports.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617986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DE8C1-DDA9-2DF8-1E92-464F07D3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400" b="1" dirty="0"/>
              <a:t>Scenario Environment Diagram</a:t>
            </a:r>
            <a:endParaRPr kumimoji="1" lang="ja-JP" altLang="en-US" sz="2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F15A3BC-BC5E-9EE6-5376-68F1B0827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45" y="1043888"/>
            <a:ext cx="11020926" cy="560951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416E06-D3B4-0D08-6142-F7D6CCDD6A69}"/>
              </a:ext>
            </a:extLst>
          </p:cNvPr>
          <p:cNvSpPr txBox="1"/>
          <p:nvPr/>
        </p:nvSpPr>
        <p:spPr>
          <a:xfrm>
            <a:off x="10506844" y="3427282"/>
            <a:ext cx="1358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kumimoji="1" lang="en-US" altLang="ja-JP" sz="1400" dirty="0">
                <a:solidFill>
                  <a:schemeClr val="accent6"/>
                </a:solidFill>
              </a:rPr>
              <a:t>Worse latency</a:t>
            </a:r>
            <a:endParaRPr kumimoji="1" lang="ja-JP" altLang="en-US" sz="1400" dirty="0">
              <a:solidFill>
                <a:schemeClr val="accent6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F01469-0E2A-7F90-06B7-D88D24FD50C9}"/>
              </a:ext>
            </a:extLst>
          </p:cNvPr>
          <p:cNvSpPr txBox="1"/>
          <p:nvPr/>
        </p:nvSpPr>
        <p:spPr>
          <a:xfrm>
            <a:off x="7256906" y="5556161"/>
            <a:ext cx="3571812" cy="738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fontAlgn="base"/>
            <a:r>
              <a:rPr lang="en-US" altLang="ja-JP" sz="1400" dirty="0">
                <a:solidFill>
                  <a:schemeClr val="accent6"/>
                </a:solidFill>
              </a:rPr>
              <a:t>Machine and its service are working, </a:t>
            </a:r>
          </a:p>
          <a:p>
            <a:pPr fontAlgn="base"/>
            <a:r>
              <a:rPr kumimoji="1" lang="en-US" altLang="ja-JP" sz="1400" dirty="0">
                <a:solidFill>
                  <a:schemeClr val="accent6"/>
                </a:solidFill>
              </a:rPr>
              <a:t>but a software bug causes worse latency</a:t>
            </a:r>
          </a:p>
          <a:p>
            <a:pPr fontAlgn="base"/>
            <a:r>
              <a:rPr lang="en-US" altLang="ja-JP" sz="1400" dirty="0">
                <a:solidFill>
                  <a:schemeClr val="accent6"/>
                </a:solidFill>
              </a:rPr>
              <a:t>with increase of </a:t>
            </a:r>
            <a:r>
              <a:rPr kumimoji="1" lang="en-US" altLang="ja-JP" sz="1400" dirty="0">
                <a:solidFill>
                  <a:schemeClr val="accent6"/>
                </a:solidFill>
              </a:rPr>
              <a:t>CPU utilization.</a:t>
            </a:r>
            <a:endParaRPr kumimoji="1" lang="ja-JP" altLang="en-US" sz="1400" dirty="0">
              <a:solidFill>
                <a:schemeClr val="accent6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DE5B74-8A4E-49E4-62E2-6A3F7F2F18CB}"/>
              </a:ext>
            </a:extLst>
          </p:cNvPr>
          <p:cNvSpPr txBox="1"/>
          <p:nvPr/>
        </p:nvSpPr>
        <p:spPr>
          <a:xfrm>
            <a:off x="9603902" y="2353933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kumimoji="1" lang="en-US" altLang="ja-JP" sz="1400" dirty="0">
                <a:solidFill>
                  <a:schemeClr val="accent3"/>
                </a:solidFill>
              </a:rPr>
              <a:t>Requests</a:t>
            </a:r>
            <a:endParaRPr kumimoji="1" lang="ja-JP" altLang="en-US" sz="1400" dirty="0">
              <a:solidFill>
                <a:schemeClr val="accent3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625B498-CE44-E99A-9C95-2F1F59B0907F}"/>
              </a:ext>
            </a:extLst>
          </p:cNvPr>
          <p:cNvSpPr txBox="1"/>
          <p:nvPr/>
        </p:nvSpPr>
        <p:spPr>
          <a:xfrm>
            <a:off x="10656564" y="1474775"/>
            <a:ext cx="5293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kumimoji="1" lang="en-US" altLang="ja-JP" sz="1100" dirty="0"/>
              <a:t>Node</a:t>
            </a:r>
            <a:endParaRPr kumimoji="1" lang="ja-JP" altLang="en-US" sz="11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C3C2FE-2E21-C25E-0359-A48253F204DD}"/>
              </a:ext>
            </a:extLst>
          </p:cNvPr>
          <p:cNvSpPr txBox="1"/>
          <p:nvPr/>
        </p:nvSpPr>
        <p:spPr>
          <a:xfrm>
            <a:off x="10931043" y="2844709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kumimoji="1" lang="en-US" altLang="ja-JP" sz="1400" dirty="0">
                <a:solidFill>
                  <a:schemeClr val="tx2">
                    <a:lumMod val="75000"/>
                  </a:schemeClr>
                </a:solidFill>
              </a:rPr>
              <a:t>User</a:t>
            </a:r>
            <a:endParaRPr kumimoji="1" lang="ja-JP" alt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4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DE8C1-DDA9-2DF8-1E92-464F07D3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400" b="1" dirty="0"/>
              <a:t>Scenario Environment Details</a:t>
            </a:r>
            <a:endParaRPr kumimoji="1" lang="ja-JP" altLang="en-US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76FA3D8-4816-2B50-590E-05126647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905" y="1366553"/>
            <a:ext cx="6943566" cy="3215413"/>
          </a:xfrm>
          <a:prstGeom prst="rect">
            <a:avLst/>
          </a:prstGeom>
        </p:spPr>
      </p:pic>
      <p:sp>
        <p:nvSpPr>
          <p:cNvPr id="7" name="コンテンツ プレースホルダー 4">
            <a:extLst>
              <a:ext uri="{FF2B5EF4-FFF2-40B4-BE49-F238E27FC236}">
                <a16:creationId xmlns:a16="http://schemas.microsoft.com/office/drawing/2014/main" id="{A4BC78CE-819B-6542-1833-B5CFDA8C2726}"/>
              </a:ext>
            </a:extLst>
          </p:cNvPr>
          <p:cNvSpPr txBox="1">
            <a:spLocks/>
          </p:cNvSpPr>
          <p:nvPr/>
        </p:nvSpPr>
        <p:spPr>
          <a:xfrm>
            <a:off x="263529" y="1016000"/>
            <a:ext cx="11664951" cy="5149850"/>
          </a:xfrm>
          <a:prstGeom prst="rect">
            <a:avLst/>
          </a:prstGeom>
        </p:spPr>
        <p:txBody>
          <a:bodyPr/>
          <a:lstStyle>
            <a:lvl1pPr marL="355558" indent="-355558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kumimoji="1" lang="ja-JP" altLang="en-US" sz="2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598944" indent="-243387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kumimoji="1" lang="ja-JP" altLang="en-US" sz="20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2pPr>
            <a:lvl3pPr marL="721695" indent="-122753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lang="ja-JP" altLang="en-US" sz="16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3pPr>
            <a:lvl4pPr marL="838098" indent="-118520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Tahoma" pitchFamily="34" charset="0"/>
              <a:buChar char="–"/>
              <a:defRPr kumimoji="1" lang="ja-JP" alt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4pPr>
            <a:lvl5pPr marL="835982" indent="0" algn="l" rtl="0" eaLnBrk="1" fontAlgn="base" hangingPunct="1">
              <a:lnSpc>
                <a:spcPct val="110000"/>
              </a:lnSpc>
              <a:spcBef>
                <a:spcPts val="5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kumimoji="1" sz="1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</a:defRPr>
            </a:lvl5pPr>
            <a:lvl6pPr marL="335238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906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143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953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397921" indent="-285750">
              <a:buClr>
                <a:srgbClr val="1E32A5"/>
              </a:buClr>
              <a:defRPr/>
            </a:pPr>
            <a:r>
              <a:rPr lang="ja-JP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Environmental Information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Usage environment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AWS EKS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Number of Entities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Number of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Nodes (Worker Node only*): 10</a:t>
            </a: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Number of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pods: 206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Fault Target Microservice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book-info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Root Cause Location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chemeClr val="tx1"/>
                </a:solidFill>
                <a:latin typeface="游ゴシック"/>
                <a:ea typeface="游ゴシック"/>
              </a:rPr>
              <a:t>Increased </a:t>
            </a:r>
            <a:r>
              <a:rPr lang="en-US" altLang="ja-JP" sz="1200" b="1" dirty="0" err="1">
                <a:solidFill>
                  <a:schemeClr val="tx1"/>
                </a:solidFill>
                <a:latin typeface="游ゴシック"/>
                <a:ea typeface="游ゴシック"/>
              </a:rPr>
              <a:t>cpu </a:t>
            </a:r>
            <a:r>
              <a:rPr lang="ja-JP" altLang="en-US" sz="1200" b="1" dirty="0">
                <a:solidFill>
                  <a:schemeClr val="tx1"/>
                </a:solidFill>
                <a:latin typeface="游ゴシック"/>
                <a:ea typeface="游ゴシック"/>
              </a:rPr>
              <a:t>utilization due to latent bug in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multiplexed </a:t>
            </a:r>
            <a:r>
              <a:rPr lang="en-US" altLang="ja-JP" sz="1200" b="1" dirty="0">
                <a:solidFill>
                  <a:srgbClr val="C00000"/>
                </a:solidFill>
                <a:latin typeface="游ゴシック"/>
                <a:ea typeface="游ゴシック"/>
              </a:rPr>
              <a:t>productpage-v1</a:t>
            </a:r>
            <a:endParaRPr lang="en-US" altLang="ja-JP" sz="1200" b="1" dirty="0">
              <a:solidFill>
                <a:schemeClr val="tx1"/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Potential bug generation time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: 2023/12/07 16:48~.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SLI</a:t>
            </a: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C00000"/>
                </a:solidFill>
                <a:latin typeface="游ゴシック"/>
                <a:ea typeface="游ゴシック"/>
              </a:rPr>
              <a:t>Latency of </a:t>
            </a:r>
            <a:r>
              <a:rPr lang="en-US" altLang="ja-JP" sz="1200" b="1" dirty="0">
                <a:solidFill>
                  <a:srgbClr val="C00000"/>
                </a:solidFill>
                <a:latin typeface="游ゴシック"/>
                <a:ea typeface="游ゴシック"/>
              </a:rPr>
              <a:t>book-info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Failure time </a:t>
            </a: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(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time to start affecting </a:t>
            </a: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SLI)</a:t>
            </a: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200" b="1" dirty="0">
                <a:solidFill>
                  <a:srgbClr val="C00000"/>
                </a:solidFill>
                <a:latin typeface="游ゴシック"/>
                <a:ea typeface="游ゴシック"/>
              </a:rPr>
              <a:t>2023-12-07 16:53:03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(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Response time was on average about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30~40 ms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, but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now it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exceeds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100 ms.)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Time for people to notice obstacles </a:t>
            </a: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(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assumed </a:t>
            </a: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  <a:sym typeface="Wingdings" panose="05000000000000000000" pitchFamily="2" charset="2"/>
              </a:rPr>
              <a:t>detection time</a:t>
            </a: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)</a:t>
            </a: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2023-12-07 19:32:44 (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time over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300 ms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.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)</a:t>
            </a:r>
          </a:p>
          <a:p>
            <a:pPr marL="764058" lvl="2" indent="-285750">
              <a:buClr>
                <a:srgbClr val="1E32A5"/>
              </a:buClr>
              <a:defRPr/>
            </a:pP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1DF253-C828-15B1-E9A4-9009ED414AA9}"/>
              </a:ext>
            </a:extLst>
          </p:cNvPr>
          <p:cNvSpPr txBox="1"/>
          <p:nvPr/>
        </p:nvSpPr>
        <p:spPr>
          <a:xfrm>
            <a:off x="6704600" y="119046"/>
            <a:ext cx="54874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*Because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 EKS is 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fully managed, there is no 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Master Node (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managed by 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AWS)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.</a:t>
            </a:r>
            <a:endParaRPr lang="ja-JP" altLang="en-US" sz="16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01134A4-B897-DBB0-7E20-38AE950B9663}"/>
              </a:ext>
            </a:extLst>
          </p:cNvPr>
          <p:cNvSpPr txBox="1"/>
          <p:nvPr/>
        </p:nvSpPr>
        <p:spPr>
          <a:xfrm>
            <a:off x="5293894" y="1112637"/>
            <a:ext cx="49409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Figure</a:t>
            </a:r>
            <a:r>
              <a:rPr kumimoji="1" lang="en-US" altLang="ja-JP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book-info </a:t>
            </a:r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configuration diagram </a:t>
            </a:r>
            <a:r>
              <a:rPr kumimoji="1" lang="en-US" altLang="ja-JP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details omitted, as this is the same as before</a:t>
            </a:r>
            <a:r>
              <a:rPr kumimoji="1" lang="en-US" altLang="ja-JP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kumimoji="1" lang="ja-JP" altLang="en-US" sz="10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69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DE8C1-DDA9-2DF8-1E92-464F07D3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400" b="1" dirty="0"/>
              <a:t>Scenario Creation/Procedures</a:t>
            </a:r>
            <a:endParaRPr kumimoji="1" lang="ja-JP" altLang="en-US" sz="2400" dirty="0"/>
          </a:p>
        </p:txBody>
      </p:sp>
      <p:sp>
        <p:nvSpPr>
          <p:cNvPr id="7" name="コンテンツ プレースホルダー 4">
            <a:extLst>
              <a:ext uri="{FF2B5EF4-FFF2-40B4-BE49-F238E27FC236}">
                <a16:creationId xmlns:a16="http://schemas.microsoft.com/office/drawing/2014/main" id="{A4BC78CE-819B-6542-1833-B5CFDA8C2726}"/>
              </a:ext>
            </a:extLst>
          </p:cNvPr>
          <p:cNvSpPr txBox="1">
            <a:spLocks/>
          </p:cNvSpPr>
          <p:nvPr/>
        </p:nvSpPr>
        <p:spPr>
          <a:xfrm>
            <a:off x="263529" y="1016000"/>
            <a:ext cx="11664951" cy="5149850"/>
          </a:xfrm>
          <a:prstGeom prst="rect">
            <a:avLst/>
          </a:prstGeom>
        </p:spPr>
        <p:txBody>
          <a:bodyPr/>
          <a:lstStyle>
            <a:lvl1pPr marL="355558" indent="-355558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kumimoji="1" lang="ja-JP" altLang="en-US" sz="2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598944" indent="-243387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kumimoji="1" lang="ja-JP" altLang="en-US" sz="20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2pPr>
            <a:lvl3pPr marL="721695" indent="-122753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lang="ja-JP" altLang="en-US" sz="16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3pPr>
            <a:lvl4pPr marL="838098" indent="-118520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Tahoma" pitchFamily="34" charset="0"/>
              <a:buChar char="–"/>
              <a:defRPr kumimoji="1" lang="ja-JP" alt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4pPr>
            <a:lvl5pPr marL="835982" indent="0" algn="l" rtl="0" eaLnBrk="1" fontAlgn="base" hangingPunct="1">
              <a:lnSpc>
                <a:spcPct val="110000"/>
              </a:lnSpc>
              <a:spcBef>
                <a:spcPts val="5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kumimoji="1" sz="1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</a:defRPr>
            </a:lvl5pPr>
            <a:lvl6pPr marL="335238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906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143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953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397921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Measurement period: </a:t>
            </a:r>
            <a:r>
              <a:rPr lang="en-US" altLang="zh-TW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2023/12/06 18:45 ~ 2023/12/08 17:00 (46 </a:t>
            </a:r>
            <a:r>
              <a:rPr lang="zh-TW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hours </a:t>
            </a:r>
            <a:r>
              <a:rPr lang="en-US" altLang="zh-TW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15 </a:t>
            </a:r>
            <a:r>
              <a:rPr lang="zh-TW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minutes</a:t>
            </a:r>
            <a:r>
              <a:rPr lang="en-US" altLang="zh-TW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)</a:t>
            </a:r>
            <a:endParaRPr lang="ja-JP" altLang="en-US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r>
              <a:rPr lang="zh-TW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Time of </a:t>
            </a:r>
            <a:r>
              <a:rPr lang="en-US" altLang="zh-TW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cpu </a:t>
            </a:r>
            <a:r>
              <a:rPr lang="zh-TW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load increase</a:t>
            </a:r>
            <a:r>
              <a:rPr lang="en-US" altLang="zh-TW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: 2023/12/07 16:48</a:t>
            </a:r>
            <a:endParaRPr lang="ja-JP" altLang="en-US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Affected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pods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: productpage-v1 one system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Root cause: A bug develops and at some time the </a:t>
            </a:r>
            <a:r>
              <a:rPr lang="en-US" altLang="ja-JP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cpu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load increases, affecting service processing.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KPI(SLI):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Latency increases when accessing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faulty </a:t>
            </a:r>
            <a:r>
              <a:rPr lang="en-US" altLang="ja-JP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productpage.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buFont typeface="+mj-lt"/>
              <a:buAutoNum type="arabicPeriod"/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Periodically send requests to microservice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 (book-info) from the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outside.</a:t>
            </a:r>
          </a:p>
          <a:p>
            <a:pPr marL="397921" indent="-285750">
              <a:buClr>
                <a:srgbClr val="1E32A5"/>
              </a:buClr>
              <a:buFont typeface="+mj-lt"/>
              <a:buAutoNum type="arabicPeriod"/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After 1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day, the </a:t>
            </a:r>
            <a:r>
              <a:rPr lang="en-US" altLang="ja-JP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cpu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load is increased within one system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productpage-v1 to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mimic a latent bug.</a:t>
            </a:r>
          </a:p>
          <a:p>
            <a:pPr marL="397921" indent="-285750">
              <a:buClr>
                <a:srgbClr val="1E32A5"/>
              </a:buClr>
              <a:buFont typeface="+mj-lt"/>
              <a:buAutoNum type="arabicPeriod"/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 errors or other symptoms occur.</a:t>
            </a:r>
          </a:p>
          <a:p>
            <a:pPr marL="397921" indent="-285750">
              <a:buClr>
                <a:srgbClr val="1E32A5"/>
              </a:buClr>
              <a:buFont typeface="+mj-lt"/>
              <a:buAutoNum type="arabicPeriod"/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Latency to one system gradually increases.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buFont typeface="+mj-lt"/>
              <a:buAutoNum type="arabicPeriod"/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KPI (SLI)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will use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JMeter.</a:t>
            </a:r>
          </a:p>
          <a:p>
            <a:pPr marL="397921" indent="-285750">
              <a:buClr>
                <a:srgbClr val="1E32A5"/>
              </a:buClr>
              <a:buFont typeface="+mj-lt"/>
              <a:buAutoNum type="arabicPeriod"/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All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and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metrics (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CPU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usage, memory usage, etc.) are obtained from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CloudWatch Metrics.</a:t>
            </a:r>
          </a:p>
          <a:p>
            <a:pPr marL="397921" indent="-285750">
              <a:buClr>
                <a:srgbClr val="1E32A5"/>
              </a:buClr>
              <a:buFont typeface="+mj-lt"/>
              <a:buAutoNum type="arabicPeriod"/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All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and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logs are obtained from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CloudWatch Logs.</a:t>
            </a:r>
          </a:p>
          <a:p>
            <a:pPr marL="397921" indent="-285750">
              <a:buClr>
                <a:srgbClr val="1E32A5"/>
              </a:buClr>
              <a:buFont typeface="+mj-lt"/>
              <a:buAutoNum type="arabicPeriod"/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Based on the data from 5~7, etc., identify the root cause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(</a:t>
            </a:r>
            <a:r>
              <a:rPr lang="en-US" altLang="ja-JP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cpu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load increase in one system pod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) related to SLI.</a:t>
            </a:r>
          </a:p>
          <a:p>
            <a:pPr marL="397921" indent="-285750">
              <a:buClr>
                <a:srgbClr val="1E32A5"/>
              </a:buClr>
              <a:defRPr/>
            </a:pP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392011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19BD4CB-712E-9093-B891-7BA7EDEA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200" b="1" dirty="0"/>
              <a:t>Stored Data Summary</a:t>
            </a:r>
          </a:p>
        </p:txBody>
      </p:sp>
    </p:spTree>
    <p:extLst>
      <p:ext uri="{BB962C8B-B14F-4D97-AF65-F5344CB8AC3E}">
        <p14:creationId xmlns:p14="http://schemas.microsoft.com/office/powerpoint/2010/main" val="174704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DE8C1-DDA9-2DF8-1E92-464F07D3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 b="1" dirty="0"/>
              <a:t>sampling data</a:t>
            </a:r>
            <a:endParaRPr kumimoji="1" lang="ja-JP" altLang="en-US" sz="2400" dirty="0"/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0C8A53C7-E429-FCCB-31B9-BBC1728D740D}"/>
              </a:ext>
            </a:extLst>
          </p:cNvPr>
          <p:cNvSpPr txBox="1">
            <a:spLocks/>
          </p:cNvSpPr>
          <p:nvPr/>
        </p:nvSpPr>
        <p:spPr>
          <a:xfrm>
            <a:off x="263529" y="1016000"/>
            <a:ext cx="11664951" cy="5149850"/>
          </a:xfrm>
          <a:prstGeom prst="rect">
            <a:avLst/>
          </a:prstGeom>
        </p:spPr>
        <p:txBody>
          <a:bodyPr/>
          <a:lstStyle>
            <a:lvl1pPr marL="355558" indent="-355558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kumimoji="1" lang="ja-JP" altLang="en-US" sz="2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598944" indent="-243387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kumimoji="1" lang="ja-JP" altLang="en-US" sz="20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2pPr>
            <a:lvl3pPr marL="721695" indent="-122753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lang="ja-JP" altLang="en-US" sz="16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3pPr>
            <a:lvl4pPr marL="838098" indent="-118520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Tahoma" pitchFamily="34" charset="0"/>
              <a:buChar char="–"/>
              <a:defRPr kumimoji="1" lang="ja-JP" alt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4pPr>
            <a:lvl5pPr marL="835982" indent="0" algn="l" rtl="0" eaLnBrk="1" fontAlgn="base" hangingPunct="1">
              <a:lnSpc>
                <a:spcPct val="110000"/>
              </a:lnSpc>
              <a:spcBef>
                <a:spcPts val="5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kumimoji="1" sz="1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</a:defRPr>
            </a:lvl5pPr>
            <a:lvl6pPr marL="335238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906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143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953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397921" indent="-285750">
              <a:buClr>
                <a:srgbClr val="1E32A5"/>
              </a:buClr>
              <a:defRPr/>
            </a:pPr>
            <a:r>
              <a:rPr lang="en-US" altLang="ja-JP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SLI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folder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/JMeter/result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JMeter 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Same as existing but this time latency is used as external form monitoring.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 in the third column from the right (in the figure below,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29, 188,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47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)</a:t>
            </a:r>
          </a:p>
          <a:p>
            <a:pPr marL="764058" lvl="2" indent="-285750">
              <a:buClr>
                <a:srgbClr val="1E32A5"/>
              </a:buClr>
              <a:defRPr/>
            </a:pP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478308" lvl="2" indent="0">
              <a:buClr>
                <a:srgbClr val="1E32A5"/>
              </a:buClr>
              <a:buNone/>
              <a:defRPr/>
            </a:pP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endParaRPr lang="en-US" altLang="ja-JP" sz="18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397921" indent="-285750">
              <a:buClr>
                <a:srgbClr val="1E32A5"/>
              </a:buClr>
              <a:defRPr/>
            </a:pPr>
            <a:r>
              <a:rPr lang="ja-JP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configuration data</a:t>
            </a:r>
            <a:endParaRPr lang="en-US" altLang="ja-JP" sz="18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folder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/Configuration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 - node 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configuration data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 on which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pods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are assigned to which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node.</a:t>
            </a: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Static data, acquired before and after scenario measurement.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all_pod_before.txt</a:t>
            </a: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all_pod_after.txt</a:t>
            </a:r>
          </a:p>
          <a:p>
            <a:pPr marL="880461" lvl="3" indent="-285750">
              <a:buClr>
                <a:srgbClr val="1E32A5"/>
              </a:buClr>
              <a:defRPr/>
            </a:pP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50786F8-3850-5A97-1B72-A1162950E546}"/>
              </a:ext>
            </a:extLst>
          </p:cNvPr>
          <p:cNvSpPr txBox="1"/>
          <p:nvPr/>
        </p:nvSpPr>
        <p:spPr>
          <a:xfrm>
            <a:off x="154309" y="2972051"/>
            <a:ext cx="1188338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fontAlgn="base"/>
            <a:r>
              <a:rPr kumimoji="1"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1701945200153,29,book_info,200,OK,Book_Info_Case05_1_49h 1-179981,text,true,,5485,200,41,41,http://internal-k8s-bookinfo-ingressp- 3969330968-763775053.ap-northeast-1.elb.amazonaws.com/productpage,</a:t>
            </a:r>
            <a:r>
              <a:rPr kumimoji="1" lang="en-US" altLang="ja-JP" sz="900" dirty="0">
                <a:solidFill>
                  <a:srgbClr val="C00000"/>
                </a:solidFill>
              </a:rPr>
              <a:t>29</a:t>
            </a:r>
            <a:r>
              <a:rPr kumimoji="1"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,0,1</a:t>
            </a:r>
          </a:p>
          <a:p>
            <a:pPr fontAlgn="base"/>
            <a:r>
              <a:rPr kumimoji="1"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1701945200653,188,book_info,200,OK,Book_Info_Case05_1_49h 1-179982,text,true,,4486,200,41,41,http://internal-k8s-bookinfo-ingressp- 3969330968-763775053.ap-northeast-1.elb.amazonaws.com/productpage,</a:t>
            </a:r>
            <a:r>
              <a:rPr kumimoji="1" lang="en-US" altLang="ja-JP" sz="900" dirty="0">
                <a:solidFill>
                  <a:srgbClr val="C00000"/>
                </a:solidFill>
              </a:rPr>
              <a:t>188</a:t>
            </a:r>
            <a:r>
              <a:rPr kumimoji="1"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,0,1</a:t>
            </a:r>
          </a:p>
          <a:p>
            <a:pPr fontAlgn="base"/>
            <a:r>
              <a:rPr kumimoji="1"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1701945201153,47,book_info,200,OK,Book_Info_Case05_1_49h 1-179983,text,true,,5482,200,41,41,http://internal-k8s-bookinfo-ingressp- 3969330968-763775053.ap-northeast-1.elb.amazonaws.com/productpage,</a:t>
            </a:r>
            <a:r>
              <a:rPr kumimoji="1" lang="en-US" altLang="ja-JP" sz="900" dirty="0">
                <a:solidFill>
                  <a:srgbClr val="C00000"/>
                </a:solidFill>
              </a:rPr>
              <a:t>47</a:t>
            </a:r>
            <a:r>
              <a:rPr kumimoji="1"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,0,0</a:t>
            </a:r>
          </a:p>
          <a:p>
            <a:pPr fontAlgn="base"/>
            <a:r>
              <a:rPr kumimoji="1"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...</a:t>
            </a:r>
            <a:endParaRPr kumimoji="1" lang="ja-JP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D2B8AAB-D340-9A60-28B5-762498BE5961}"/>
              </a:ext>
            </a:extLst>
          </p:cNvPr>
          <p:cNvSpPr/>
          <p:nvPr/>
        </p:nvSpPr>
        <p:spPr bwMode="auto">
          <a:xfrm>
            <a:off x="3768938" y="5574433"/>
            <a:ext cx="8268752" cy="90142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US" altLang="ja-JP" sz="700" dirty="0">
                <a:solidFill>
                  <a:schemeClr val="tx1"/>
                </a:solidFill>
                <a:latin typeface="+mj-ea"/>
                <a:ea typeface="+mj-ea"/>
              </a:rPr>
              <a:t>NAMESPACE NAME READY STATUS RESTARTS AGE IP NODE NOMINATED NODE READINESS GATES</a:t>
            </a:r>
          </a:p>
          <a:p>
            <a:r>
              <a:rPr kumimoji="1" lang="en-US" altLang="ja-JP" sz="700" dirty="0" err="1">
                <a:solidFill>
                  <a:schemeClr val="tx1"/>
                </a:solidFill>
                <a:latin typeface="+mj-ea"/>
                <a:ea typeface="+mj-ea"/>
              </a:rPr>
              <a:t>amazon-cloudwatch </a:t>
            </a:r>
            <a:r>
              <a:rPr kumimoji="1" lang="en-US" altLang="ja-JP" sz="700" dirty="0">
                <a:solidFill>
                  <a:schemeClr val="tx1"/>
                </a:solidFill>
                <a:latin typeface="+mj-ea"/>
                <a:ea typeface="+mj-ea"/>
              </a:rPr>
              <a:t>cloudwatch-agent-4fzgp 1/1 Running 0 9h 10.1.64.209 ip-10-1-64-10.ap-northeast-1.compute.internal &lt;none&gt; &lt;none&amp; gt;</a:t>
            </a:r>
          </a:p>
          <a:p>
            <a:r>
              <a:rPr kumimoji="1" lang="en-US" altLang="ja-JP" sz="700" dirty="0" err="1">
                <a:solidFill>
                  <a:schemeClr val="tx1"/>
                </a:solidFill>
                <a:latin typeface="+mj-ea"/>
                <a:ea typeface="+mj-ea"/>
              </a:rPr>
              <a:t>amazon-cloudwatch </a:t>
            </a:r>
            <a:r>
              <a:rPr kumimoji="1" lang="en-US" altLang="ja-JP" sz="700" dirty="0">
                <a:solidFill>
                  <a:schemeClr val="tx1"/>
                </a:solidFill>
                <a:latin typeface="+mj-ea"/>
                <a:ea typeface="+mj-ea"/>
              </a:rPr>
              <a:t>cloudwatch-agent-7ppkh 1/1 Running 0 2d8h 10.1.32.25 ip-10-1-32-147.ap-northeast-1.compute.internal &lt;none &lt;none</a:t>
            </a:r>
          </a:p>
          <a:p>
            <a:r>
              <a:rPr kumimoji="1" lang="en-US" altLang="ja-JP" sz="700" dirty="0" err="1">
                <a:solidFill>
                  <a:schemeClr val="tx1"/>
                </a:solidFill>
                <a:latin typeface="+mj-ea"/>
                <a:ea typeface="+mj-ea"/>
              </a:rPr>
              <a:t>amazon-cloudwatch </a:t>
            </a:r>
            <a:r>
              <a:rPr kumimoji="1" lang="en-US" altLang="ja-JP" sz="700" dirty="0">
                <a:solidFill>
                  <a:schemeClr val="tx1"/>
                </a:solidFill>
                <a:latin typeface="+mj-ea"/>
                <a:ea typeface="+mj-ea"/>
              </a:rPr>
              <a:t>cloudwatch-agent-cz6m4 1/1 Running 0 2d8h 10.1.32.65 ip-10-1-32-15.ap-northeast-1.compute.internal &lt;none&gt; &lt;none&amp; gt;.</a:t>
            </a:r>
          </a:p>
          <a:p>
            <a:r>
              <a:rPr kumimoji="1" lang="en-US" altLang="ja-JP" sz="700" dirty="0" err="1">
                <a:solidFill>
                  <a:schemeClr val="tx1"/>
                </a:solidFill>
                <a:latin typeface="+mj-ea"/>
                <a:ea typeface="+mj-ea"/>
              </a:rPr>
              <a:t>amazon-cloudwatch cloudwatch-agent-gsdlz </a:t>
            </a:r>
            <a:r>
              <a:rPr kumimoji="1" lang="en-US" altLang="ja-JP" sz="700" dirty="0">
                <a:solidFill>
                  <a:schemeClr val="tx1"/>
                </a:solidFill>
                <a:latin typeface="+mj-ea"/>
                <a:ea typeface="+mj-ea"/>
              </a:rPr>
              <a:t>1/1 Running 0 2d8h 10.1.128.178 ip-10-1-128-219.ap-northeast-1.compute.internal &lt;none&gt; &lt; none&gt; &lt;none&gt; &lt;none&gt; &lt;none&gt; &lt;none&gt; &lt;none</a:t>
            </a:r>
          </a:p>
          <a:p>
            <a:r>
              <a:rPr kumimoji="1" lang="en-US" altLang="ja-JP" sz="700" dirty="0" err="1">
                <a:solidFill>
                  <a:schemeClr val="tx1"/>
                </a:solidFill>
                <a:latin typeface="+mj-ea"/>
                <a:ea typeface="+mj-ea"/>
              </a:rPr>
              <a:t>amazon-cloudwatch </a:t>
            </a:r>
            <a:r>
              <a:rPr kumimoji="1" lang="en-US" altLang="ja-JP" sz="700" dirty="0">
                <a:solidFill>
                  <a:schemeClr val="tx1"/>
                </a:solidFill>
                <a:latin typeface="+mj-ea"/>
                <a:ea typeface="+mj-ea"/>
              </a:rPr>
              <a:t>cloudwatch-agent-lsl49 1/1 Running 0 2d8h 10.1.64.32 ip-10-1-64-27.ap-northeast-1.compute.internal &lt;none&gt; &lt;none&amp; gt;.</a:t>
            </a:r>
            <a:endParaRPr kumimoji="1" lang="ja-JP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2B9528-BA03-17CE-7192-036461085645}"/>
              </a:ext>
            </a:extLst>
          </p:cNvPr>
          <p:cNvSpPr txBox="1"/>
          <p:nvPr/>
        </p:nvSpPr>
        <p:spPr>
          <a:xfrm>
            <a:off x="10970890" y="2718135"/>
            <a:ext cx="1066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kumimoji="1" lang="en-US" altLang="ja-JP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JMeter </a:t>
            </a:r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DA1E12-01F2-856D-6687-410E6F48AF0E}"/>
              </a:ext>
            </a:extLst>
          </p:cNvPr>
          <p:cNvSpPr txBox="1"/>
          <p:nvPr/>
        </p:nvSpPr>
        <p:spPr>
          <a:xfrm>
            <a:off x="11235962" y="5320517"/>
            <a:ext cx="8922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configuration data</a:t>
            </a:r>
          </a:p>
        </p:txBody>
      </p:sp>
    </p:spTree>
    <p:extLst>
      <p:ext uri="{BB962C8B-B14F-4D97-AF65-F5344CB8AC3E}">
        <p14:creationId xmlns:p14="http://schemas.microsoft.com/office/powerpoint/2010/main" val="393784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DE8C1-DDA9-2DF8-1E92-464F07D3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 b="1" dirty="0"/>
              <a:t>sampling data</a:t>
            </a:r>
            <a:endParaRPr kumimoji="1" lang="ja-JP" altLang="en-US" sz="2400" dirty="0"/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0C8A53C7-E429-FCCB-31B9-BBC1728D740D}"/>
              </a:ext>
            </a:extLst>
          </p:cNvPr>
          <p:cNvSpPr txBox="1">
            <a:spLocks/>
          </p:cNvSpPr>
          <p:nvPr/>
        </p:nvSpPr>
        <p:spPr>
          <a:xfrm>
            <a:off x="263529" y="1016000"/>
            <a:ext cx="11664951" cy="5149850"/>
          </a:xfrm>
          <a:prstGeom prst="rect">
            <a:avLst/>
          </a:prstGeom>
        </p:spPr>
        <p:txBody>
          <a:bodyPr/>
          <a:lstStyle>
            <a:lvl1pPr marL="355558" indent="-355558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kumimoji="1" lang="ja-JP" altLang="en-US" sz="2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598944" indent="-243387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kumimoji="1" lang="ja-JP" altLang="en-US" sz="20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2pPr>
            <a:lvl3pPr marL="721695" indent="-122753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lang="ja-JP" altLang="en-US" sz="16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3pPr>
            <a:lvl4pPr marL="838098" indent="-118520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Tahoma" pitchFamily="34" charset="0"/>
              <a:buChar char="–"/>
              <a:defRPr kumimoji="1" lang="ja-JP" alt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4pPr>
            <a:lvl5pPr marL="835982" indent="0" algn="l" rtl="0" eaLnBrk="1" fontAlgn="base" hangingPunct="1">
              <a:lnSpc>
                <a:spcPct val="110000"/>
              </a:lnSpc>
              <a:spcBef>
                <a:spcPts val="5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kumimoji="1" sz="1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</a:defRPr>
            </a:lvl5pPr>
            <a:lvl6pPr marL="335238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906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143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953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397921" indent="-285750">
              <a:buClr>
                <a:srgbClr val="1E32A5"/>
              </a:buClr>
              <a:defRPr/>
            </a:pPr>
            <a:r>
              <a:rPr lang="ja-JP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metrics</a:t>
            </a:r>
            <a:endParaRPr lang="en-US" altLang="ja-JP" sz="18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folder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/Metric/node</a:t>
            </a: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/Metric/pod</a:t>
            </a: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/Metric/alb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Prometheus 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The format is </a:t>
            </a:r>
            <a:r>
              <a:rPr lang="en-US" altLang="ja-JP" sz="12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json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 similar to existing ones.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There is a slight difference in the data collected.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NODE: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 data for </a:t>
            </a: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saturation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system. </a:t>
            </a: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Six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types in total.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pod: </a:t>
            </a:r>
            <a:r>
              <a:rPr lang="en-US" altLang="ja-JP" sz="10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storage_iops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 added. Total of </a:t>
            </a: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7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types.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ALB (Application Load Balancer) 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Metrics data for the load balancer itself and incoming requests.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They are stored in a single </a:t>
            </a:r>
            <a:r>
              <a:rPr lang="en-US" altLang="ja-JP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csv </a:t>
            </a: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file.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 collected is on the next page.</a:t>
            </a:r>
            <a:endParaRPr lang="en-US" altLang="ja-JP" sz="10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515E1AD-1E84-B430-E3E4-E6690C458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959090"/>
              </p:ext>
            </p:extLst>
          </p:nvPr>
        </p:nvGraphicFramePr>
        <p:xfrm>
          <a:off x="6571575" y="4199890"/>
          <a:ext cx="5132307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029">
                  <a:extLst>
                    <a:ext uri="{9D8B030D-6E8A-4147-A177-3AD203B41FA5}">
                      <a16:colId xmlns:a16="http://schemas.microsoft.com/office/drawing/2014/main" val="2013918402"/>
                    </a:ext>
                  </a:extLst>
                </a:gridCol>
                <a:gridCol w="2436278">
                  <a:extLst>
                    <a:ext uri="{9D8B030D-6E8A-4147-A177-3AD203B41FA5}">
                      <a16:colId xmlns:a16="http://schemas.microsoft.com/office/drawing/2014/main" val="2537932828"/>
                    </a:ext>
                  </a:extLst>
                </a:gridCol>
              </a:tblGrid>
              <a:tr h="193403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file-name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190329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{namespace}_cpu_usage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pod </a:t>
                      </a:r>
                      <a:r>
                        <a:rPr kumimoji="1" lang="en-US" altLang="ja-JP" sz="1000" dirty="0" err="1"/>
                        <a:t>cpu </a:t>
                      </a:r>
                      <a:r>
                        <a:rPr kumimoji="1" lang="ja-JP" altLang="en-US" sz="1000" dirty="0"/>
                        <a:t>utilization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70659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{namespace}_memory_usage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Memory usage of </a:t>
                      </a:r>
                      <a:r>
                        <a:rPr kumimoji="1" lang="en-US" altLang="ja-JP" sz="1000" dirty="0"/>
                        <a:t>pod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445158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{namespace}_received_bandwidth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Received bandwidth of </a:t>
                      </a:r>
                      <a:r>
                        <a:rPr kumimoji="1" lang="en-US" altLang="ja-JP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 </a:t>
                      </a:r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(bytes/second)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698633"/>
                  </a:ext>
                </a:extLst>
              </a:tr>
              <a:tr h="2376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{namespace}_transmit_bandwidth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Transmission bandwidth of </a:t>
                      </a:r>
                      <a:r>
                        <a:rPr kumimoji="1" lang="en-US" altLang="ja-JP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 </a:t>
                      </a:r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(bytes/second)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655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{namespace}_rate_received_packets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Packets received by </a:t>
                      </a:r>
                      <a:r>
                        <a:rPr kumimoji="1" lang="en-US" altLang="ja-JP" sz="1000" dirty="0"/>
                        <a:t>pod </a:t>
                      </a:r>
                      <a:r>
                        <a:rPr kumimoji="1" lang="ja-JP" altLang="en-US" sz="1000" dirty="0"/>
                        <a:t>(</a:t>
                      </a:r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bytes/second</a:t>
                      </a:r>
                      <a:r>
                        <a:rPr kumimoji="1" lang="ja-JP" alt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42401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{namespace}_rate_transmitted_packets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Packets sent by </a:t>
                      </a:r>
                      <a:r>
                        <a:rPr kumimoji="1" lang="en-US" altLang="ja-JP" sz="1000" dirty="0"/>
                        <a:t>pod </a:t>
                      </a:r>
                      <a:r>
                        <a:rPr kumimoji="1" lang="ja-JP" altLang="en-US" sz="1000" dirty="0"/>
                        <a:t>(</a:t>
                      </a:r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bytes/second</a:t>
                      </a:r>
                      <a:r>
                        <a:rPr kumimoji="1" lang="ja-JP" alt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84369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{namespace}_rate_storage_iops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Storage </a:t>
                      </a:r>
                      <a:r>
                        <a:rPr kumimoji="1" lang="en-US" altLang="ja-JP" sz="1000" dirty="0"/>
                        <a:t>IOPS of pod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777673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679C3C8-9D5D-5498-7B7E-FD6C291D9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237509"/>
              </p:ext>
            </p:extLst>
          </p:nvPr>
        </p:nvGraphicFramePr>
        <p:xfrm>
          <a:off x="7381700" y="2240263"/>
          <a:ext cx="432218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081">
                  <a:extLst>
                    <a:ext uri="{9D8B030D-6E8A-4147-A177-3AD203B41FA5}">
                      <a16:colId xmlns:a16="http://schemas.microsoft.com/office/drawing/2014/main" val="3977075543"/>
                    </a:ext>
                  </a:extLst>
                </a:gridCol>
                <a:gridCol w="2386101">
                  <a:extLst>
                    <a:ext uri="{9D8B030D-6E8A-4147-A177-3AD203B41FA5}">
                      <a16:colId xmlns:a16="http://schemas.microsoft.com/office/drawing/2014/main" val="1133534293"/>
                    </a:ext>
                  </a:extLst>
                </a:gridCol>
              </a:tblGrid>
              <a:tr h="190132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file-name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613242"/>
                  </a:ext>
                </a:extLst>
              </a:tr>
              <a:tr h="1901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node_cpu_usage</a:t>
                      </a:r>
                      <a:endParaRPr kumimoji="1" lang="en-US" altLang="ja-JP" sz="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Node </a:t>
                      </a:r>
                      <a:r>
                        <a:rPr kumimoji="1" lang="en-US" altLang="ja-JP" sz="800" dirty="0" err="1"/>
                        <a:t>cpu </a:t>
                      </a:r>
                      <a:r>
                        <a:rPr kumimoji="1" lang="ja-JP" altLang="en-US" sz="800" dirty="0"/>
                        <a:t>utilization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546843"/>
                  </a:ext>
                </a:extLst>
              </a:tr>
              <a:tr h="1901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node_memory_usage</a:t>
                      </a:r>
                      <a:endParaRPr kumimoji="1" lang="en-US" altLang="ja-JP" sz="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Node memory utilization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541982"/>
                  </a:ext>
                </a:extLst>
              </a:tr>
              <a:tr h="1901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node_net_usage_receive</a:t>
                      </a:r>
                      <a:r>
                        <a:rPr kumimoji="1" lang="en-US" altLang="ja-JP" sz="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Incoming network utilization (bytes/second)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982627"/>
                  </a:ext>
                </a:extLst>
              </a:tr>
              <a:tr h="1901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node_net_usage_transmit</a:t>
                      </a:r>
                      <a:r>
                        <a:rPr kumimoji="1" lang="en-US" altLang="ja-JP" sz="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Transmission network utilization (bytes/second)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227583"/>
                  </a:ext>
                </a:extLst>
              </a:tr>
              <a:tr h="1901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node_net_disk_io_usage</a:t>
                      </a:r>
                      <a:endParaRPr kumimoji="1" lang="en-US" altLang="ja-JP" sz="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disk utilization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298768"/>
                  </a:ext>
                </a:extLst>
              </a:tr>
              <a:tr h="1901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node_net_disk_space_usage</a:t>
                      </a:r>
                      <a:endParaRPr kumimoji="1" lang="en-US" altLang="ja-JP" sz="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disk 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62144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BAEC60-57A9-EE73-0BDC-F4050F66E64C}"/>
              </a:ext>
            </a:extLst>
          </p:cNvPr>
          <p:cNvSpPr txBox="1"/>
          <p:nvPr/>
        </p:nvSpPr>
        <p:spPr>
          <a:xfrm>
            <a:off x="7381690" y="2027777"/>
            <a:ext cx="28210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</a:t>
            </a:r>
            <a:r>
              <a:rPr kumimoji="1" lang="en-US" altLang="ja-JP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Contents of files in </a:t>
            </a:r>
            <a:r>
              <a:rPr kumimoji="1" lang="en-US" altLang="ja-JP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/Metric/node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8728A6-7972-F3BA-F745-2FE15ADE69C7}"/>
              </a:ext>
            </a:extLst>
          </p:cNvPr>
          <p:cNvSpPr txBox="1"/>
          <p:nvPr/>
        </p:nvSpPr>
        <p:spPr>
          <a:xfrm>
            <a:off x="6571566" y="3953042"/>
            <a:ext cx="26377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</a:t>
            </a:r>
            <a:r>
              <a:rPr kumimoji="1" lang="en-US" altLang="ja-JP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Contents of files in </a:t>
            </a:r>
            <a:r>
              <a:rPr kumimoji="1" lang="en-US" altLang="ja-JP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/Metric/pod</a:t>
            </a:r>
          </a:p>
        </p:txBody>
      </p:sp>
    </p:spTree>
    <p:extLst>
      <p:ext uri="{BB962C8B-B14F-4D97-AF65-F5344CB8AC3E}">
        <p14:creationId xmlns:p14="http://schemas.microsoft.com/office/powerpoint/2010/main" val="1304630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DE8C1-DDA9-2DF8-1E92-464F07D3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 b="1" dirty="0"/>
              <a:t>sampling data</a:t>
            </a:r>
            <a:endParaRPr kumimoji="1" lang="ja-JP" altLang="en-US" sz="2400" dirty="0"/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297EA752-216A-02BE-1831-65EA1DA2A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762638"/>
              </p:ext>
            </p:extLst>
          </p:nvPr>
        </p:nvGraphicFramePr>
        <p:xfrm>
          <a:off x="545433" y="1551271"/>
          <a:ext cx="8381999" cy="477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662">
                  <a:extLst>
                    <a:ext uri="{9D8B030D-6E8A-4147-A177-3AD203B41FA5}">
                      <a16:colId xmlns:a16="http://schemas.microsoft.com/office/drawing/2014/main" val="2013918402"/>
                    </a:ext>
                  </a:extLst>
                </a:gridCol>
                <a:gridCol w="6224337">
                  <a:extLst>
                    <a:ext uri="{9D8B030D-6E8A-4147-A177-3AD203B41FA5}">
                      <a16:colId xmlns:a16="http://schemas.microsoft.com/office/drawing/2014/main" val="2537932828"/>
                    </a:ext>
                  </a:extLst>
                </a:gridCol>
              </a:tblGrid>
              <a:tr h="193403"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file-name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/>
                        <a:t>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190329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HTTPCode_ELB_503_Count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</a:t>
                      </a:r>
                      <a:r>
                        <a:rPr kumimoji="1" lang="en-US" altLang="ja-JP" sz="1000" dirty="0"/>
                        <a:t>HTTP 503 </a:t>
                      </a:r>
                      <a:r>
                        <a:rPr kumimoji="1" lang="ja-JP" altLang="en-US" sz="1000" dirty="0"/>
                        <a:t>error codes sent by the load balancer.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70659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HTTPCode_ELB_5XX_Count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</a:t>
                      </a:r>
                      <a:r>
                        <a:rPr kumimoji="1" lang="en-US" altLang="ja-JP" sz="1000" dirty="0"/>
                        <a:t>HTTP 5XX </a:t>
                      </a:r>
                      <a:r>
                        <a:rPr kumimoji="1" lang="ja-JP" altLang="en-US" sz="1000" dirty="0"/>
                        <a:t>server error codes sent by the load balancer.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445158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HTTPCode_Target_3XX_Count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</a:t>
                      </a:r>
                      <a:r>
                        <a:rPr kumimoji="1" lang="en-US" altLang="ja-JP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 </a:t>
                      </a:r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 codes generated by the target.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698633"/>
                  </a:ext>
                </a:extLst>
              </a:tr>
              <a:tr h="2376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RequestCount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requests successfully processed via </a:t>
                      </a:r>
                      <a:r>
                        <a:rPr kumimoji="1" lang="en-US" altLang="ja-JP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IPv4 </a:t>
                      </a:r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kumimoji="1" lang="en-US" altLang="ja-JP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IPv6</a:t>
                      </a:r>
                      <a:r>
                        <a:rPr kumimoji="1" lang="ja-JP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655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RuleEvaluations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rules processed by the load balancer based on average request frequency </a:t>
                      </a:r>
                      <a:r>
                        <a:rPr kumimoji="1" lang="en-US" altLang="ja-JP" sz="1000" dirty="0"/>
                        <a:t>per </a:t>
                      </a:r>
                      <a:r>
                        <a:rPr kumimoji="1" lang="ja-JP" altLang="en-US" sz="1000" dirty="0"/>
                        <a:t>hour.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42401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ProcessedBytes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Total bytes processed by the load balancer using </a:t>
                      </a:r>
                      <a:r>
                        <a:rPr kumimoji="1" lang="en-US" altLang="ja-JP" sz="1000" dirty="0"/>
                        <a:t>IPv4 </a:t>
                      </a:r>
                      <a:r>
                        <a:rPr kumimoji="1" lang="ja-JP" altLang="en-US" sz="1000" dirty="0"/>
                        <a:t>and </a:t>
                      </a:r>
                      <a:r>
                        <a:rPr kumimoji="1" lang="en-US" altLang="ja-JP" sz="1000" dirty="0"/>
                        <a:t>IPv6 (HTTP </a:t>
                      </a:r>
                      <a:r>
                        <a:rPr kumimoji="1" lang="ja-JP" altLang="en-US" sz="1000" dirty="0"/>
                        <a:t>headers and </a:t>
                      </a:r>
                      <a:r>
                        <a:rPr kumimoji="1" lang="en-US" altLang="ja-JP" sz="1000" dirty="0"/>
                        <a:t>HTTP </a:t>
                      </a:r>
                      <a:r>
                        <a:rPr kumimoji="1" lang="ja-JP" altLang="en-US" sz="1000" dirty="0"/>
                        <a:t>payload</a:t>
                      </a:r>
                      <a:r>
                        <a:rPr kumimoji="1" lang="en-US" altLang="ja-JP" sz="1000" dirty="0"/>
                        <a:t>)</a:t>
                      </a:r>
                      <a:r>
                        <a:rPr kumimoji="1" lang="ja-JP" altLang="en-US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84369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ActiveConnectionCount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Total number of active concurrent </a:t>
                      </a:r>
                      <a:r>
                        <a:rPr kumimoji="1" lang="en-US" altLang="ja-JP" sz="1000" dirty="0"/>
                        <a:t>TCP </a:t>
                      </a:r>
                      <a:r>
                        <a:rPr kumimoji="1" lang="ja-JP" altLang="en-US" sz="1000" dirty="0"/>
                        <a:t>connections from the client to the load balancer and from the load balancer to the target.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777673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HTTPCode_Target_2XX_Count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</a:t>
                      </a:r>
                      <a:r>
                        <a:rPr kumimoji="1" lang="en-US" altLang="ja-JP" sz="1000" dirty="0"/>
                        <a:t>HTTP </a:t>
                      </a:r>
                      <a:r>
                        <a:rPr kumimoji="1" lang="ja-JP" altLang="en-US" sz="1000" dirty="0"/>
                        <a:t>response codes generated by the target.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078679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TargetResponseTime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Elapsed time </a:t>
                      </a:r>
                      <a:r>
                        <a:rPr kumimoji="1" lang="en-US" altLang="ja-JP" sz="1000" dirty="0"/>
                        <a:t>(in </a:t>
                      </a:r>
                      <a:r>
                        <a:rPr kumimoji="1" lang="ja-JP" altLang="en-US" sz="1000" dirty="0"/>
                        <a:t>seconds) between when a request is sent from the load balancer and when a response is received from the target.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0424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NewConnectionCount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Total number of newly established </a:t>
                      </a:r>
                      <a:r>
                        <a:rPr kumimoji="1" lang="en-US" altLang="ja-JP" sz="1000" dirty="0"/>
                        <a:t>TCP </a:t>
                      </a:r>
                      <a:r>
                        <a:rPr kumimoji="1" lang="ja-JP" altLang="en-US" sz="1000" dirty="0"/>
                        <a:t>connections from the client to the load balancer and from the load balancer to the target.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028666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HTTPCode_Target_4XX_Count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</a:t>
                      </a:r>
                      <a:r>
                        <a:rPr kumimoji="1" lang="en-US" altLang="ja-JP" sz="1000" dirty="0"/>
                        <a:t>HTTP </a:t>
                      </a:r>
                      <a:r>
                        <a:rPr kumimoji="1" lang="ja-JP" altLang="en-US" sz="1000" dirty="0"/>
                        <a:t>response codes generated by the target.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299168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ConsumedLCUs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load balancer capacity </a:t>
                      </a:r>
                      <a:r>
                        <a:rPr kumimoji="1" lang="en-US" altLang="ja-JP" sz="1000" dirty="0"/>
                        <a:t>units (LCUs) </a:t>
                      </a:r>
                      <a:r>
                        <a:rPr kumimoji="1" lang="ja-JP" altLang="en-US" sz="1000" dirty="0"/>
                        <a:t>used by the load balancer.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20531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HTTPCode_Target_5XX_Count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0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/>
                        <a:t>Number of </a:t>
                      </a:r>
                      <a:r>
                        <a:rPr kumimoji="1" lang="en-US" altLang="ja-JP" sz="1000" dirty="0"/>
                        <a:t>HTTP </a:t>
                      </a:r>
                      <a:r>
                        <a:rPr kumimoji="1" lang="ja-JP" altLang="en-US" sz="1000" dirty="0"/>
                        <a:t>response codes generated by the target.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696666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UnhealthyRoutingRequestCount</a:t>
                      </a:r>
                      <a:endParaRPr kumimoji="1" lang="en-US" altLang="ja-JP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requests routed using routing failover action </a:t>
                      </a: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 dirty="0"/>
                        <a:t>fail open</a:t>
                      </a:r>
                      <a:r>
                        <a:rPr kumimoji="1" lang="en-US" altLang="ja-JP" sz="1000" dirty="0"/>
                        <a:t>)</a:t>
                      </a:r>
                      <a:r>
                        <a:rPr kumimoji="1" lang="ja-JP" altLang="en-US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983647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HTTPCode_ELB_500_Count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</a:t>
                      </a:r>
                      <a:r>
                        <a:rPr kumimoji="1" lang="en-US" altLang="ja-JP" sz="1000" dirty="0"/>
                        <a:t>HTTP 500 </a:t>
                      </a:r>
                      <a:r>
                        <a:rPr kumimoji="1" lang="ja-JP" altLang="en-US" sz="1000" dirty="0"/>
                        <a:t>error codes sent by the load balancer.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56263"/>
                  </a:ext>
                </a:extLst>
              </a:tr>
              <a:tr h="193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HTTPCode_ELB_4XX_Count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Number of </a:t>
                      </a:r>
                      <a:r>
                        <a:rPr kumimoji="1" lang="en-US" altLang="ja-JP" sz="1000" dirty="0"/>
                        <a:t>HTTP 4XX </a:t>
                      </a:r>
                      <a:r>
                        <a:rPr kumimoji="1" lang="ja-JP" altLang="en-US" sz="1000" dirty="0"/>
                        <a:t>client error codes sent by the load balancer.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97641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9121AB-DB3B-B595-D636-FCB01D42034B}"/>
              </a:ext>
            </a:extLst>
          </p:cNvPr>
          <p:cNvSpPr txBox="1"/>
          <p:nvPr/>
        </p:nvSpPr>
        <p:spPr>
          <a:xfrm>
            <a:off x="545433" y="1297355"/>
            <a:ext cx="26377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kumimoji="1" lang="ja-JP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Table: Contents of files in </a:t>
            </a:r>
            <a:r>
              <a:rPr kumimoji="1" lang="en-US" altLang="ja-JP" sz="105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/Metric/alb</a:t>
            </a:r>
          </a:p>
        </p:txBody>
      </p:sp>
    </p:spTree>
    <p:extLst>
      <p:ext uri="{BB962C8B-B14F-4D97-AF65-F5344CB8AC3E}">
        <p14:creationId xmlns:p14="http://schemas.microsoft.com/office/powerpoint/2010/main" val="3170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DE8C1-DDA9-2DF8-1E92-464F07D3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 b="1" dirty="0"/>
              <a:t>sampling data</a:t>
            </a:r>
            <a:endParaRPr kumimoji="1" lang="ja-JP" altLang="en-US" sz="2400" dirty="0"/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0C8A53C7-E429-FCCB-31B9-BBC1728D740D}"/>
              </a:ext>
            </a:extLst>
          </p:cNvPr>
          <p:cNvSpPr txBox="1">
            <a:spLocks/>
          </p:cNvSpPr>
          <p:nvPr/>
        </p:nvSpPr>
        <p:spPr>
          <a:xfrm>
            <a:off x="263529" y="1016000"/>
            <a:ext cx="11664951" cy="5149850"/>
          </a:xfrm>
          <a:prstGeom prst="rect">
            <a:avLst/>
          </a:prstGeom>
        </p:spPr>
        <p:txBody>
          <a:bodyPr/>
          <a:lstStyle>
            <a:lvl1pPr marL="355558" indent="-355558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kumimoji="1" lang="ja-JP" altLang="en-US" sz="2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598944" indent="-243387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kumimoji="1" lang="ja-JP" altLang="en-US" sz="20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2pPr>
            <a:lvl3pPr marL="721695" indent="-122753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lang="ja-JP" altLang="en-US" sz="16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3pPr>
            <a:lvl4pPr marL="838098" indent="-118520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Font typeface="Tahoma" pitchFamily="34" charset="0"/>
              <a:buChar char="–"/>
              <a:defRPr kumimoji="1" lang="ja-JP" alt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4pPr>
            <a:lvl5pPr marL="835982" indent="0" algn="l" rtl="0" eaLnBrk="1" fontAlgn="base" hangingPunct="1">
              <a:lnSpc>
                <a:spcPct val="110000"/>
              </a:lnSpc>
              <a:spcBef>
                <a:spcPts val="5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kumimoji="1" sz="1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</a:defRPr>
            </a:lvl5pPr>
            <a:lvl6pPr marL="335238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3961906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4571430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5180953" indent="-304760" algn="l" rtl="0" eaLnBrk="1" fontAlgn="base" hangingPunct="1">
              <a:spcBef>
                <a:spcPct val="20000"/>
              </a:spcBef>
              <a:spcAft>
                <a:spcPct val="0"/>
              </a:spcAft>
              <a:buChar char="≫"/>
              <a:defRPr kumimoji="1" sz="2667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397921" indent="-285750">
              <a:buClr>
                <a:srgbClr val="1E32A5"/>
              </a:buClr>
              <a:defRPr/>
            </a:pPr>
            <a:r>
              <a:rPr lang="ja-JP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log</a:t>
            </a:r>
            <a:endParaRPr lang="en-US" altLang="ja-JP" sz="18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folder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/Log/eks_log/</a:t>
            </a:r>
          </a:p>
          <a:p>
            <a:pPr marL="641307" lvl="1" indent="-285750">
              <a:buClr>
                <a:srgbClr val="1E32A5"/>
              </a:buClr>
              <a:defRPr/>
            </a:pP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CloudWatch 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All pod and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logs are stored in text format.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1st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column log time, </a:t>
            </a:r>
            <a:r>
              <a:rPr lang="en-US" altLang="ja-JP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2nd </a:t>
            </a: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column log details.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 Type</a:t>
            </a:r>
            <a:endParaRPr lang="en-US" altLang="ja-JP" sz="12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/application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: all log files in 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/var/log/containers of 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node. In other words, container logs.</a:t>
            </a: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5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/dataplane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: </a:t>
            </a:r>
            <a:r>
              <a:rPr lang="en-US" altLang="ja-JP" sz="105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docker.service 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logs 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for node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'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 /var/log/journal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, </a:t>
            </a:r>
            <a:r>
              <a:rPr lang="en-US" altLang="ja-JP" sz="105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kubelet.service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, and </a:t>
            </a:r>
            <a:r>
              <a:rPr lang="en-US" altLang="ja-JP" sz="105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kubeproxy.service.</a:t>
            </a: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/host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: Logs from </a:t>
            </a:r>
            <a:r>
              <a:rPr lang="en-US" altLang="ja-JP" sz="105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/var/log/dmesg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, 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/var/log/secure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, and 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/var/log/messages of 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node. In other words, node logs.</a:t>
            </a:r>
            <a:endParaRPr lang="en-US" altLang="ja-JP" sz="105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/performance: 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Metrics data for 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node and pod. 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However, it is not possible to identify even the random string part of the </a:t>
            </a: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pod </a:t>
            </a:r>
            <a:r>
              <a:rPr lang="ja-JP" altLang="en-US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name.</a:t>
            </a:r>
            <a:endParaRPr lang="en-US" altLang="ja-JP" sz="105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641307" lvl="1" indent="-285750">
              <a:buClr>
                <a:srgbClr val="1E32A5"/>
              </a:buClr>
              <a:defRPr/>
            </a:pPr>
            <a:r>
              <a:rPr lang="en-US" altLang="ja-JP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ALB </a:t>
            </a:r>
            <a:r>
              <a:rPr lang="ja-JP" alt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Data</a:t>
            </a:r>
            <a:endParaRPr lang="en-US" altLang="ja-JP" sz="140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Provides an access log that captures detailed information about requests sent to the load balancer.</a:t>
            </a:r>
            <a:endParaRPr lang="en-US" altLang="ja-JP" sz="125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764058" lvl="2" indent="-285750">
              <a:buClr>
                <a:srgbClr val="1E32A5"/>
              </a:buClr>
              <a:defRPr/>
            </a:pPr>
            <a:r>
              <a:rPr lang="ja-JP" altLang="en-US" sz="12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</a:rPr>
              <a:t>See the official log for the contents of the log.</a:t>
            </a:r>
            <a:endParaRPr lang="en-US" altLang="ja-JP" sz="125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  <a:p>
            <a:pPr marL="880461" lvl="3" indent="-285750">
              <a:buClr>
                <a:srgbClr val="1E32A5"/>
              </a:buClr>
              <a:defRPr/>
            </a:pPr>
            <a:r>
              <a:rPr lang="en-US" altLang="ja-JP" sz="1050" b="1" dirty="0">
                <a:solidFill>
                  <a:srgbClr val="000000">
                    <a:lumMod val="85000"/>
                    <a:lumOff val="15000"/>
                  </a:srgbClr>
                </a:solidFill>
                <a:latin typeface="游ゴシック"/>
                <a:ea typeface="游ゴシック"/>
                <a:hlinkClick r:id="rId2"/>
              </a:rPr>
              <a:t>https://docs.aws.amazon.com/elasticloadbalancing/latest/application/load-balancer-access-logs.html</a:t>
            </a:r>
            <a:endParaRPr lang="en-US" altLang="ja-JP" sz="1050" b="1" dirty="0">
              <a:solidFill>
                <a:srgbClr val="000000">
                  <a:lumMod val="85000"/>
                  <a:lumOff val="15000"/>
                </a:srgbClr>
              </a:solidFill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450614848"/>
      </p:ext>
    </p:extLst>
  </p:cSld>
  <p:clrMapOvr>
    <a:masterClrMapping/>
  </p:clrMapOvr>
</p:sld>
</file>

<file path=ppt/theme/theme1.xml><?xml version="1.0" encoding="utf-8"?>
<a:theme xmlns:a="http://schemas.openxmlformats.org/drawingml/2006/main" name="NEC_Theme_B_16_9_jp">
  <a:themeElements>
    <a:clrScheme name="NEC_Color_2021">
      <a:dk1>
        <a:srgbClr val="000000"/>
      </a:dk1>
      <a:lt1>
        <a:srgbClr val="FFFFFF"/>
      </a:lt1>
      <a:dk2>
        <a:srgbClr val="04127C"/>
      </a:dk2>
      <a:lt2>
        <a:srgbClr val="858585"/>
      </a:lt2>
      <a:accent1>
        <a:srgbClr val="1E32A5"/>
      </a:accent1>
      <a:accent2>
        <a:srgbClr val="286EBE"/>
      </a:accent2>
      <a:accent3>
        <a:srgbClr val="419B91"/>
      </a:accent3>
      <a:accent4>
        <a:srgbClr val="D2BE00"/>
      </a:accent4>
      <a:accent5>
        <a:srgbClr val="DC8C23"/>
      </a:accent5>
      <a:accent6>
        <a:srgbClr val="BE375A"/>
      </a:accent6>
      <a:hlink>
        <a:srgbClr val="4575FD"/>
      </a:hlink>
      <a:folHlink>
        <a:srgbClr val="9E5ECE"/>
      </a:folHlink>
    </a:clrScheme>
    <a:fontScheme name="NEC_Font_2021_jp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エレメント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mtClean="0">
            <a:solidFill>
              <a:schemeClr val="bg1"/>
            </a:solidFill>
            <a:latin typeface="+mj-ea"/>
            <a:ea typeface="+mj-ea"/>
          </a:defRPr>
        </a:defPPr>
      </a:lstStyle>
    </a:spDef>
    <a:lnDef>
      <a:spPr bwMode="auto">
        <a:solidFill>
          <a:schemeClr val="bg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tx1">
                    <a:alpha val="50000"/>
                  </a:schemeClr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 fontAlgn="base">
          <a:defRPr kumimoji="1" sz="1800" dirty="0" smtClean="0">
            <a:solidFill>
              <a:schemeClr val="tx1">
                <a:lumMod val="85000"/>
                <a:lumOff val="1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EC_Theme_B_16_9_jp" id="{8D1A0C78-0828-42C2-83C1-16E376CFF2A9}" vid="{3A0EC7F2-93B2-4B5B-B61B-24D074324F1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12872</TotalTime>
  <Words>1659</Words>
  <Application>Microsoft Office PowerPoint</Application>
  <PresentationFormat>ワイド画面</PresentationFormat>
  <Paragraphs>184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7" baseType="lpstr">
      <vt:lpstr>HGP創英角ｺﾞｼｯｸUB</vt:lpstr>
      <vt:lpstr>游ゴシック</vt:lpstr>
      <vt:lpstr>Arial</vt:lpstr>
      <vt:lpstr>Segoe UI</vt:lpstr>
      <vt:lpstr>Tahoma</vt:lpstr>
      <vt:lpstr>Wingdings</vt:lpstr>
      <vt:lpstr>NEC_Theme_B_16_9_jp</vt:lpstr>
      <vt:lpstr>Scenario Data Summary</vt:lpstr>
      <vt:lpstr>Item #5: Half-life scenario for services</vt:lpstr>
      <vt:lpstr>Scenario Environment Diagram</vt:lpstr>
      <vt:lpstr>Scenario Environment Details</vt:lpstr>
      <vt:lpstr>Scenario Creation/Procedures</vt:lpstr>
      <vt:lpstr>Stored Data Summary</vt:lpstr>
      <vt:lpstr>sampling data</vt:lpstr>
      <vt:lpstr>sampling data</vt:lpstr>
      <vt:lpstr>sampling data</vt:lpstr>
      <vt:lpstr>sampling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シナリオ実施(CORAL 検証用)</dc:title>
  <dc:creator>Reon Matsuoka</dc:creator>
  <cp:keywords>, docId:8FCA543A060BAABB523885F2384AFA04</cp:keywords>
  <cp:lastModifiedBy>棗田　昌尚</cp:lastModifiedBy>
  <cp:revision>93</cp:revision>
  <dcterms:created xsi:type="dcterms:W3CDTF">2023-11-15T08:51:54Z</dcterms:created>
  <dcterms:modified xsi:type="dcterms:W3CDTF">2023-12-12T05:58:49Z</dcterms:modified>
</cp:coreProperties>
</file>